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7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B3A669-3561-6075-D65F-00AD900EB039}" v="185" dt="2025-07-31T12:58:07.8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ank Sohanda (Ratings - Tech)" userId="S::sohandam@moodys.com::cb4e3fdd-9f00-4250-8d34-1aa63657e007" providerId="AD" clId="Web-{1AB3A669-3561-6075-D65F-00AD900EB039}"/>
    <pc:docChg chg="addSld modSld">
      <pc:chgData name="Mayank Sohanda (Ratings - Tech)" userId="S::sohandam@moodys.com::cb4e3fdd-9f00-4250-8d34-1aa63657e007" providerId="AD" clId="Web-{1AB3A669-3561-6075-D65F-00AD900EB039}" dt="2025-07-31T12:58:07.615" v="174" actId="14100"/>
      <pc:docMkLst>
        <pc:docMk/>
      </pc:docMkLst>
      <pc:sldChg chg="modSp">
        <pc:chgData name="Mayank Sohanda (Ratings - Tech)" userId="S::sohandam@moodys.com::cb4e3fdd-9f00-4250-8d34-1aa63657e007" providerId="AD" clId="Web-{1AB3A669-3561-6075-D65F-00AD900EB039}" dt="2025-07-31T12:03:00.832" v="41" actId="1076"/>
        <pc:sldMkLst>
          <pc:docMk/>
          <pc:sldMk cId="194559339" sldId="261"/>
        </pc:sldMkLst>
        <pc:picChg chg="mod">
          <ac:chgData name="Mayank Sohanda (Ratings - Tech)" userId="S::sohandam@moodys.com::cb4e3fdd-9f00-4250-8d34-1aa63657e007" providerId="AD" clId="Web-{1AB3A669-3561-6075-D65F-00AD900EB039}" dt="2025-07-31T12:03:00.832" v="41" actId="1076"/>
          <ac:picMkLst>
            <pc:docMk/>
            <pc:sldMk cId="194559339" sldId="261"/>
            <ac:picMk id="5" creationId="{023388A5-1825-AE94-41DE-C09A316CADBE}"/>
          </ac:picMkLst>
        </pc:picChg>
      </pc:sldChg>
      <pc:sldChg chg="modSp">
        <pc:chgData name="Mayank Sohanda (Ratings - Tech)" userId="S::sohandam@moodys.com::cb4e3fdd-9f00-4250-8d34-1aa63657e007" providerId="AD" clId="Web-{1AB3A669-3561-6075-D65F-00AD900EB039}" dt="2025-07-31T12:13:42.914" v="111" actId="20577"/>
        <pc:sldMkLst>
          <pc:docMk/>
          <pc:sldMk cId="2108399226" sldId="268"/>
        </pc:sldMkLst>
        <pc:spChg chg="mod">
          <ac:chgData name="Mayank Sohanda (Ratings - Tech)" userId="S::sohandam@moodys.com::cb4e3fdd-9f00-4250-8d34-1aa63657e007" providerId="AD" clId="Web-{1AB3A669-3561-6075-D65F-00AD900EB039}" dt="2025-07-31T12:13:23.647" v="95" actId="20577"/>
          <ac:spMkLst>
            <pc:docMk/>
            <pc:sldMk cId="2108399226" sldId="268"/>
            <ac:spMk id="2" creationId="{F5F64041-42E6-306C-FBC5-BC90A29B69ED}"/>
          </ac:spMkLst>
        </pc:spChg>
        <pc:spChg chg="mod">
          <ac:chgData name="Mayank Sohanda (Ratings - Tech)" userId="S::sohandam@moodys.com::cb4e3fdd-9f00-4250-8d34-1aa63657e007" providerId="AD" clId="Web-{1AB3A669-3561-6075-D65F-00AD900EB039}" dt="2025-07-31T12:13:42.914" v="111" actId="20577"/>
          <ac:spMkLst>
            <pc:docMk/>
            <pc:sldMk cId="2108399226" sldId="268"/>
            <ac:spMk id="3" creationId="{1C536B40-0438-F71D-FFAB-BB2E48396C0A}"/>
          </ac:spMkLst>
        </pc:spChg>
      </pc:sldChg>
      <pc:sldChg chg="modSp">
        <pc:chgData name="Mayank Sohanda (Ratings - Tech)" userId="S::sohandam@moodys.com::cb4e3fdd-9f00-4250-8d34-1aa63657e007" providerId="AD" clId="Web-{1AB3A669-3561-6075-D65F-00AD900EB039}" dt="2025-07-31T12:51:17.093" v="148" actId="20577"/>
        <pc:sldMkLst>
          <pc:docMk/>
          <pc:sldMk cId="503733288" sldId="269"/>
        </pc:sldMkLst>
        <pc:spChg chg="mod">
          <ac:chgData name="Mayank Sohanda (Ratings - Tech)" userId="S::sohandam@moodys.com::cb4e3fdd-9f00-4250-8d34-1aa63657e007" providerId="AD" clId="Web-{1AB3A669-3561-6075-D65F-00AD900EB039}" dt="2025-07-31T12:51:17.093" v="148" actId="20577"/>
          <ac:spMkLst>
            <pc:docMk/>
            <pc:sldMk cId="503733288" sldId="269"/>
            <ac:spMk id="3" creationId="{49D6DDF1-BBCC-E1BD-0FA2-BC9E82BE79A5}"/>
          </ac:spMkLst>
        </pc:spChg>
      </pc:sldChg>
      <pc:sldChg chg="modSp">
        <pc:chgData name="Mayank Sohanda (Ratings - Tech)" userId="S::sohandam@moodys.com::cb4e3fdd-9f00-4250-8d34-1aa63657e007" providerId="AD" clId="Web-{1AB3A669-3561-6075-D65F-00AD900EB039}" dt="2025-07-31T12:10:49.721" v="80" actId="20577"/>
        <pc:sldMkLst>
          <pc:docMk/>
          <pc:sldMk cId="964902487" sldId="270"/>
        </pc:sldMkLst>
        <pc:spChg chg="mod">
          <ac:chgData name="Mayank Sohanda (Ratings - Tech)" userId="S::sohandam@moodys.com::cb4e3fdd-9f00-4250-8d34-1aa63657e007" providerId="AD" clId="Web-{1AB3A669-3561-6075-D65F-00AD900EB039}" dt="2025-07-31T12:10:49.721" v="80" actId="20577"/>
          <ac:spMkLst>
            <pc:docMk/>
            <pc:sldMk cId="964902487" sldId="270"/>
            <ac:spMk id="9" creationId="{6F12644E-342E-0FE0-B4AB-6BCE06F81FF5}"/>
          </ac:spMkLst>
        </pc:spChg>
      </pc:sldChg>
      <pc:sldChg chg="addSp modSp">
        <pc:chgData name="Mayank Sohanda (Ratings - Tech)" userId="S::sohandam@moodys.com::cb4e3fdd-9f00-4250-8d34-1aa63657e007" providerId="AD" clId="Web-{1AB3A669-3561-6075-D65F-00AD900EB039}" dt="2025-07-31T12:58:07.615" v="174" actId="14100"/>
        <pc:sldMkLst>
          <pc:docMk/>
          <pc:sldMk cId="369575594" sldId="271"/>
        </pc:sldMkLst>
        <pc:spChg chg="add mod">
          <ac:chgData name="Mayank Sohanda (Ratings - Tech)" userId="S::sohandam@moodys.com::cb4e3fdd-9f00-4250-8d34-1aa63657e007" providerId="AD" clId="Web-{1AB3A669-3561-6075-D65F-00AD900EB039}" dt="2025-07-31T12:58:07.615" v="174" actId="14100"/>
          <ac:spMkLst>
            <pc:docMk/>
            <pc:sldMk cId="369575594" sldId="271"/>
            <ac:spMk id="4" creationId="{2CCDA915-D65A-A321-F98C-0BD0315A5110}"/>
          </ac:spMkLst>
        </pc:spChg>
      </pc:sldChg>
      <pc:sldChg chg="modSp">
        <pc:chgData name="Mayank Sohanda (Ratings - Tech)" userId="S::sohandam@moodys.com::cb4e3fdd-9f00-4250-8d34-1aa63657e007" providerId="AD" clId="Web-{1AB3A669-3561-6075-D65F-00AD900EB039}" dt="2025-07-31T12:57:52.474" v="170" actId="20577"/>
        <pc:sldMkLst>
          <pc:docMk/>
          <pc:sldMk cId="3145026547" sldId="272"/>
        </pc:sldMkLst>
        <pc:spChg chg="mod">
          <ac:chgData name="Mayank Sohanda (Ratings - Tech)" userId="S::sohandam@moodys.com::cb4e3fdd-9f00-4250-8d34-1aa63657e007" providerId="AD" clId="Web-{1AB3A669-3561-6075-D65F-00AD900EB039}" dt="2025-07-31T12:57:52.474" v="170" actId="20577"/>
          <ac:spMkLst>
            <pc:docMk/>
            <pc:sldMk cId="3145026547" sldId="272"/>
            <ac:spMk id="7" creationId="{BFD8C507-CE94-DDCA-B4EC-8CA0DE1BFDE7}"/>
          </ac:spMkLst>
        </pc:spChg>
      </pc:sldChg>
      <pc:sldChg chg="modSp new">
        <pc:chgData name="Mayank Sohanda (Ratings - Tech)" userId="S::sohandam@moodys.com::cb4e3fdd-9f00-4250-8d34-1aa63657e007" providerId="AD" clId="Web-{1AB3A669-3561-6075-D65F-00AD900EB039}" dt="2025-07-31T12:12:31.287" v="91" actId="20577"/>
        <pc:sldMkLst>
          <pc:docMk/>
          <pc:sldMk cId="2644353590" sldId="273"/>
        </pc:sldMkLst>
        <pc:spChg chg="mod">
          <ac:chgData name="Mayank Sohanda (Ratings - Tech)" userId="S::sohandam@moodys.com::cb4e3fdd-9f00-4250-8d34-1aa63657e007" providerId="AD" clId="Web-{1AB3A669-3561-6075-D65F-00AD900EB039}" dt="2025-07-31T11:53:51.073" v="29" actId="20577"/>
          <ac:spMkLst>
            <pc:docMk/>
            <pc:sldMk cId="2644353590" sldId="273"/>
            <ac:spMk id="2" creationId="{E23065AA-85F3-DFC6-1BF3-AD83C9210815}"/>
          </ac:spMkLst>
        </pc:spChg>
        <pc:spChg chg="mod">
          <ac:chgData name="Mayank Sohanda (Ratings - Tech)" userId="S::sohandam@moodys.com::cb4e3fdd-9f00-4250-8d34-1aa63657e007" providerId="AD" clId="Web-{1AB3A669-3561-6075-D65F-00AD900EB039}" dt="2025-07-31T12:12:31.287" v="91" actId="20577"/>
          <ac:spMkLst>
            <pc:docMk/>
            <pc:sldMk cId="2644353590" sldId="273"/>
            <ac:spMk id="3" creationId="{449F0060-4187-E558-6324-A1AF2F11EEA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1D50-9B3B-2559-64DC-39FACBAA57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86093C-3048-651B-2631-7C326EEB8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6DEA23-7280-0E14-26D7-A4BF4E1D699B}"/>
              </a:ext>
            </a:extLst>
          </p:cNvPr>
          <p:cNvSpPr>
            <a:spLocks noGrp="1"/>
          </p:cNvSpPr>
          <p:nvPr>
            <p:ph type="dt" sz="half" idx="10"/>
          </p:nvPr>
        </p:nvSpPr>
        <p:spPr/>
        <p:txBody>
          <a:bodyPr/>
          <a:lstStyle/>
          <a:p>
            <a:fld id="{73E5EE70-ECE2-484F-AEAB-E525CE8398E1}" type="datetimeFigureOut">
              <a:rPr lang="en-US" smtClean="0"/>
              <a:t>7/31/2025</a:t>
            </a:fld>
            <a:endParaRPr lang="en-US"/>
          </a:p>
        </p:txBody>
      </p:sp>
      <p:sp>
        <p:nvSpPr>
          <p:cNvPr id="5" name="Footer Placeholder 4">
            <a:extLst>
              <a:ext uri="{FF2B5EF4-FFF2-40B4-BE49-F238E27FC236}">
                <a16:creationId xmlns:a16="http://schemas.microsoft.com/office/drawing/2014/main" id="{9D8A38C0-A603-501E-9CC5-67829715EC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F0DB9D-DE21-371C-168E-10573EA8B210}"/>
              </a:ext>
            </a:extLst>
          </p:cNvPr>
          <p:cNvSpPr>
            <a:spLocks noGrp="1"/>
          </p:cNvSpPr>
          <p:nvPr>
            <p:ph type="sldNum" sz="quarter" idx="12"/>
          </p:nvPr>
        </p:nvSpPr>
        <p:spPr/>
        <p:txBody>
          <a:bodyPr/>
          <a:lstStyle/>
          <a:p>
            <a:fld id="{2475EC79-F0A5-4E40-B5B4-76E97BE36872}" type="slidenum">
              <a:rPr lang="en-US" smtClean="0"/>
              <a:t>‹#›</a:t>
            </a:fld>
            <a:endParaRPr lang="en-US"/>
          </a:p>
        </p:txBody>
      </p:sp>
    </p:spTree>
    <p:extLst>
      <p:ext uri="{BB962C8B-B14F-4D97-AF65-F5344CB8AC3E}">
        <p14:creationId xmlns:p14="http://schemas.microsoft.com/office/powerpoint/2010/main" val="4269991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351DE-2D73-206D-60D4-D2AA27DDCB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06938D-705A-0D5F-D677-253CCF8079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793225-5EFF-755E-ED85-5B1F27E573B9}"/>
              </a:ext>
            </a:extLst>
          </p:cNvPr>
          <p:cNvSpPr>
            <a:spLocks noGrp="1"/>
          </p:cNvSpPr>
          <p:nvPr>
            <p:ph type="dt" sz="half" idx="10"/>
          </p:nvPr>
        </p:nvSpPr>
        <p:spPr/>
        <p:txBody>
          <a:bodyPr/>
          <a:lstStyle/>
          <a:p>
            <a:fld id="{73E5EE70-ECE2-484F-AEAB-E525CE8398E1}" type="datetimeFigureOut">
              <a:rPr lang="en-US" smtClean="0"/>
              <a:t>7/31/2025</a:t>
            </a:fld>
            <a:endParaRPr lang="en-US"/>
          </a:p>
        </p:txBody>
      </p:sp>
      <p:sp>
        <p:nvSpPr>
          <p:cNvPr id="5" name="Footer Placeholder 4">
            <a:extLst>
              <a:ext uri="{FF2B5EF4-FFF2-40B4-BE49-F238E27FC236}">
                <a16:creationId xmlns:a16="http://schemas.microsoft.com/office/drawing/2014/main" id="{069E6199-16C8-64D1-3392-C74BA187F6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B59D3-1B77-85F7-7ED2-78A5367CBF18}"/>
              </a:ext>
            </a:extLst>
          </p:cNvPr>
          <p:cNvSpPr>
            <a:spLocks noGrp="1"/>
          </p:cNvSpPr>
          <p:nvPr>
            <p:ph type="sldNum" sz="quarter" idx="12"/>
          </p:nvPr>
        </p:nvSpPr>
        <p:spPr/>
        <p:txBody>
          <a:bodyPr/>
          <a:lstStyle/>
          <a:p>
            <a:fld id="{2475EC79-F0A5-4E40-B5B4-76E97BE36872}" type="slidenum">
              <a:rPr lang="en-US" smtClean="0"/>
              <a:t>‹#›</a:t>
            </a:fld>
            <a:endParaRPr lang="en-US"/>
          </a:p>
        </p:txBody>
      </p:sp>
    </p:spTree>
    <p:extLst>
      <p:ext uri="{BB962C8B-B14F-4D97-AF65-F5344CB8AC3E}">
        <p14:creationId xmlns:p14="http://schemas.microsoft.com/office/powerpoint/2010/main" val="1355138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2CAA0-703F-2477-65B3-E0EACDC303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4924E3-EB11-43DC-BE24-49FEAAFB10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331A82-7536-2577-B23F-78A1165A4E21}"/>
              </a:ext>
            </a:extLst>
          </p:cNvPr>
          <p:cNvSpPr>
            <a:spLocks noGrp="1"/>
          </p:cNvSpPr>
          <p:nvPr>
            <p:ph type="dt" sz="half" idx="10"/>
          </p:nvPr>
        </p:nvSpPr>
        <p:spPr/>
        <p:txBody>
          <a:bodyPr/>
          <a:lstStyle/>
          <a:p>
            <a:fld id="{73E5EE70-ECE2-484F-AEAB-E525CE8398E1}" type="datetimeFigureOut">
              <a:rPr lang="en-US" smtClean="0"/>
              <a:t>7/31/2025</a:t>
            </a:fld>
            <a:endParaRPr lang="en-US"/>
          </a:p>
        </p:txBody>
      </p:sp>
      <p:sp>
        <p:nvSpPr>
          <p:cNvPr id="5" name="Footer Placeholder 4">
            <a:extLst>
              <a:ext uri="{FF2B5EF4-FFF2-40B4-BE49-F238E27FC236}">
                <a16:creationId xmlns:a16="http://schemas.microsoft.com/office/drawing/2014/main" id="{0B1D9C2E-5B9F-977C-E28F-09B0DEB42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9F309E-6484-2CC3-4C64-4E63E256A14A}"/>
              </a:ext>
            </a:extLst>
          </p:cNvPr>
          <p:cNvSpPr>
            <a:spLocks noGrp="1"/>
          </p:cNvSpPr>
          <p:nvPr>
            <p:ph type="sldNum" sz="quarter" idx="12"/>
          </p:nvPr>
        </p:nvSpPr>
        <p:spPr/>
        <p:txBody>
          <a:bodyPr/>
          <a:lstStyle/>
          <a:p>
            <a:fld id="{2475EC79-F0A5-4E40-B5B4-76E97BE36872}" type="slidenum">
              <a:rPr lang="en-US" smtClean="0"/>
              <a:t>‹#›</a:t>
            </a:fld>
            <a:endParaRPr lang="en-US"/>
          </a:p>
        </p:txBody>
      </p:sp>
    </p:spTree>
    <p:extLst>
      <p:ext uri="{BB962C8B-B14F-4D97-AF65-F5344CB8AC3E}">
        <p14:creationId xmlns:p14="http://schemas.microsoft.com/office/powerpoint/2010/main" val="762538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E25A-544E-0D29-3265-7B0161BB10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D7786E-313D-F77D-1610-023635D984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EF50DE-E2D8-E8BD-F1F8-F09F500008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7D97B9-F488-9178-E924-8EB74E03E37D}"/>
              </a:ext>
            </a:extLst>
          </p:cNvPr>
          <p:cNvSpPr>
            <a:spLocks noGrp="1"/>
          </p:cNvSpPr>
          <p:nvPr>
            <p:ph type="dt" sz="half" idx="10"/>
          </p:nvPr>
        </p:nvSpPr>
        <p:spPr/>
        <p:txBody>
          <a:bodyPr/>
          <a:lstStyle/>
          <a:p>
            <a:fld id="{73E5EE70-ECE2-484F-AEAB-E525CE8398E1}" type="datetimeFigureOut">
              <a:rPr lang="en-US" smtClean="0"/>
              <a:t>7/31/2025</a:t>
            </a:fld>
            <a:endParaRPr lang="en-US"/>
          </a:p>
        </p:txBody>
      </p:sp>
      <p:sp>
        <p:nvSpPr>
          <p:cNvPr id="6" name="Footer Placeholder 5">
            <a:extLst>
              <a:ext uri="{FF2B5EF4-FFF2-40B4-BE49-F238E27FC236}">
                <a16:creationId xmlns:a16="http://schemas.microsoft.com/office/drawing/2014/main" id="{08E38EBA-D598-C0BD-516F-FC1A3491ED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E0F55C-F63E-3AD2-F491-53BC8C8CAA38}"/>
              </a:ext>
            </a:extLst>
          </p:cNvPr>
          <p:cNvSpPr>
            <a:spLocks noGrp="1"/>
          </p:cNvSpPr>
          <p:nvPr>
            <p:ph type="sldNum" sz="quarter" idx="12"/>
          </p:nvPr>
        </p:nvSpPr>
        <p:spPr/>
        <p:txBody>
          <a:bodyPr/>
          <a:lstStyle/>
          <a:p>
            <a:fld id="{2475EC79-F0A5-4E40-B5B4-76E97BE36872}" type="slidenum">
              <a:rPr lang="en-US" smtClean="0"/>
              <a:t>‹#›</a:t>
            </a:fld>
            <a:endParaRPr lang="en-US"/>
          </a:p>
        </p:txBody>
      </p:sp>
    </p:spTree>
    <p:extLst>
      <p:ext uri="{BB962C8B-B14F-4D97-AF65-F5344CB8AC3E}">
        <p14:creationId xmlns:p14="http://schemas.microsoft.com/office/powerpoint/2010/main" val="3763414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DB50B-812E-8466-111C-8BBBD726FB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74BAAD-5882-C9F2-A99F-47614F0C3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07CF03-A93A-6F99-39A9-BB6343E997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7A71B8-8A23-2015-2C9B-8715656F3E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32CAD3-63A2-0E63-F721-3DD6506A3E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B95262-977E-B813-26FC-395E489D39F5}"/>
              </a:ext>
            </a:extLst>
          </p:cNvPr>
          <p:cNvSpPr>
            <a:spLocks noGrp="1"/>
          </p:cNvSpPr>
          <p:nvPr>
            <p:ph type="dt" sz="half" idx="10"/>
          </p:nvPr>
        </p:nvSpPr>
        <p:spPr/>
        <p:txBody>
          <a:bodyPr/>
          <a:lstStyle/>
          <a:p>
            <a:fld id="{73E5EE70-ECE2-484F-AEAB-E525CE8398E1}" type="datetimeFigureOut">
              <a:rPr lang="en-US" smtClean="0"/>
              <a:t>7/31/2025</a:t>
            </a:fld>
            <a:endParaRPr lang="en-US"/>
          </a:p>
        </p:txBody>
      </p:sp>
      <p:sp>
        <p:nvSpPr>
          <p:cNvPr id="8" name="Footer Placeholder 7">
            <a:extLst>
              <a:ext uri="{FF2B5EF4-FFF2-40B4-BE49-F238E27FC236}">
                <a16:creationId xmlns:a16="http://schemas.microsoft.com/office/drawing/2014/main" id="{4AC0C77D-6CE7-66AB-C296-FDB5843649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9352E0-D903-3253-A0A3-553342630D12}"/>
              </a:ext>
            </a:extLst>
          </p:cNvPr>
          <p:cNvSpPr>
            <a:spLocks noGrp="1"/>
          </p:cNvSpPr>
          <p:nvPr>
            <p:ph type="sldNum" sz="quarter" idx="12"/>
          </p:nvPr>
        </p:nvSpPr>
        <p:spPr/>
        <p:txBody>
          <a:bodyPr/>
          <a:lstStyle/>
          <a:p>
            <a:fld id="{2475EC79-F0A5-4E40-B5B4-76E97BE36872}" type="slidenum">
              <a:rPr lang="en-US" smtClean="0"/>
              <a:t>‹#›</a:t>
            </a:fld>
            <a:endParaRPr lang="en-US"/>
          </a:p>
        </p:txBody>
      </p:sp>
    </p:spTree>
    <p:extLst>
      <p:ext uri="{BB962C8B-B14F-4D97-AF65-F5344CB8AC3E}">
        <p14:creationId xmlns:p14="http://schemas.microsoft.com/office/powerpoint/2010/main" val="2365064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0B41B-CDE7-5F6C-A073-77509B1A03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861EC0-CAE6-A93C-FF98-FC34B1B2579A}"/>
              </a:ext>
            </a:extLst>
          </p:cNvPr>
          <p:cNvSpPr>
            <a:spLocks noGrp="1"/>
          </p:cNvSpPr>
          <p:nvPr>
            <p:ph type="dt" sz="half" idx="10"/>
          </p:nvPr>
        </p:nvSpPr>
        <p:spPr/>
        <p:txBody>
          <a:bodyPr/>
          <a:lstStyle/>
          <a:p>
            <a:fld id="{73E5EE70-ECE2-484F-AEAB-E525CE8398E1}" type="datetimeFigureOut">
              <a:rPr lang="en-US" smtClean="0"/>
              <a:t>7/31/2025</a:t>
            </a:fld>
            <a:endParaRPr lang="en-US"/>
          </a:p>
        </p:txBody>
      </p:sp>
      <p:sp>
        <p:nvSpPr>
          <p:cNvPr id="4" name="Footer Placeholder 3">
            <a:extLst>
              <a:ext uri="{FF2B5EF4-FFF2-40B4-BE49-F238E27FC236}">
                <a16:creationId xmlns:a16="http://schemas.microsoft.com/office/drawing/2014/main" id="{613828BB-85AF-D3C6-2123-490FF40BEE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00A8FE-5FB5-F33F-47DB-F4C584349954}"/>
              </a:ext>
            </a:extLst>
          </p:cNvPr>
          <p:cNvSpPr>
            <a:spLocks noGrp="1"/>
          </p:cNvSpPr>
          <p:nvPr>
            <p:ph type="sldNum" sz="quarter" idx="12"/>
          </p:nvPr>
        </p:nvSpPr>
        <p:spPr/>
        <p:txBody>
          <a:bodyPr/>
          <a:lstStyle/>
          <a:p>
            <a:fld id="{2475EC79-F0A5-4E40-B5B4-76E97BE36872}" type="slidenum">
              <a:rPr lang="en-US" smtClean="0"/>
              <a:t>‹#›</a:t>
            </a:fld>
            <a:endParaRPr lang="en-US"/>
          </a:p>
        </p:txBody>
      </p:sp>
    </p:spTree>
    <p:extLst>
      <p:ext uri="{BB962C8B-B14F-4D97-AF65-F5344CB8AC3E}">
        <p14:creationId xmlns:p14="http://schemas.microsoft.com/office/powerpoint/2010/main" val="173009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CE26B6-6580-9773-0414-808A840B20C2}"/>
              </a:ext>
            </a:extLst>
          </p:cNvPr>
          <p:cNvSpPr>
            <a:spLocks noGrp="1"/>
          </p:cNvSpPr>
          <p:nvPr>
            <p:ph type="dt" sz="half" idx="10"/>
          </p:nvPr>
        </p:nvSpPr>
        <p:spPr/>
        <p:txBody>
          <a:bodyPr/>
          <a:lstStyle/>
          <a:p>
            <a:fld id="{73E5EE70-ECE2-484F-AEAB-E525CE8398E1}" type="datetimeFigureOut">
              <a:rPr lang="en-US" smtClean="0"/>
              <a:t>7/31/2025</a:t>
            </a:fld>
            <a:endParaRPr lang="en-US"/>
          </a:p>
        </p:txBody>
      </p:sp>
      <p:sp>
        <p:nvSpPr>
          <p:cNvPr id="3" name="Footer Placeholder 2">
            <a:extLst>
              <a:ext uri="{FF2B5EF4-FFF2-40B4-BE49-F238E27FC236}">
                <a16:creationId xmlns:a16="http://schemas.microsoft.com/office/drawing/2014/main" id="{1BCB362E-1333-5350-92C0-E5D466071D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2131FF-4304-AFFF-9314-468FBA1E9E9E}"/>
              </a:ext>
            </a:extLst>
          </p:cNvPr>
          <p:cNvSpPr>
            <a:spLocks noGrp="1"/>
          </p:cNvSpPr>
          <p:nvPr>
            <p:ph type="sldNum" sz="quarter" idx="12"/>
          </p:nvPr>
        </p:nvSpPr>
        <p:spPr/>
        <p:txBody>
          <a:bodyPr/>
          <a:lstStyle/>
          <a:p>
            <a:fld id="{2475EC79-F0A5-4E40-B5B4-76E97BE36872}" type="slidenum">
              <a:rPr lang="en-US" smtClean="0"/>
              <a:t>‹#›</a:t>
            </a:fld>
            <a:endParaRPr lang="en-US"/>
          </a:p>
        </p:txBody>
      </p:sp>
    </p:spTree>
    <p:extLst>
      <p:ext uri="{BB962C8B-B14F-4D97-AF65-F5344CB8AC3E}">
        <p14:creationId xmlns:p14="http://schemas.microsoft.com/office/powerpoint/2010/main" val="178664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C8DB8-FD26-7C3D-21BC-E895797185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2671B2-B010-D9C0-C63C-CDF481D2AA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B24B78-1D3B-CBEB-C8AA-C3BEF1272B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C58317-D96B-916B-7D45-B51DF41DCCBF}"/>
              </a:ext>
            </a:extLst>
          </p:cNvPr>
          <p:cNvSpPr>
            <a:spLocks noGrp="1"/>
          </p:cNvSpPr>
          <p:nvPr>
            <p:ph type="dt" sz="half" idx="10"/>
          </p:nvPr>
        </p:nvSpPr>
        <p:spPr/>
        <p:txBody>
          <a:bodyPr/>
          <a:lstStyle/>
          <a:p>
            <a:fld id="{73E5EE70-ECE2-484F-AEAB-E525CE8398E1}" type="datetimeFigureOut">
              <a:rPr lang="en-US" smtClean="0"/>
              <a:t>7/31/2025</a:t>
            </a:fld>
            <a:endParaRPr lang="en-US"/>
          </a:p>
        </p:txBody>
      </p:sp>
      <p:sp>
        <p:nvSpPr>
          <p:cNvPr id="6" name="Footer Placeholder 5">
            <a:extLst>
              <a:ext uri="{FF2B5EF4-FFF2-40B4-BE49-F238E27FC236}">
                <a16:creationId xmlns:a16="http://schemas.microsoft.com/office/drawing/2014/main" id="{5BB067D7-110A-B610-1FD5-1542E8776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2C75F6-9E2C-C006-B972-196A9E982858}"/>
              </a:ext>
            </a:extLst>
          </p:cNvPr>
          <p:cNvSpPr>
            <a:spLocks noGrp="1"/>
          </p:cNvSpPr>
          <p:nvPr>
            <p:ph type="sldNum" sz="quarter" idx="12"/>
          </p:nvPr>
        </p:nvSpPr>
        <p:spPr/>
        <p:txBody>
          <a:bodyPr/>
          <a:lstStyle/>
          <a:p>
            <a:fld id="{2475EC79-F0A5-4E40-B5B4-76E97BE36872}" type="slidenum">
              <a:rPr lang="en-US" smtClean="0"/>
              <a:t>‹#›</a:t>
            </a:fld>
            <a:endParaRPr lang="en-US"/>
          </a:p>
        </p:txBody>
      </p:sp>
    </p:spTree>
    <p:extLst>
      <p:ext uri="{BB962C8B-B14F-4D97-AF65-F5344CB8AC3E}">
        <p14:creationId xmlns:p14="http://schemas.microsoft.com/office/powerpoint/2010/main" val="281250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A80DB-70BC-3B50-4966-413BD4CBC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A5E7E4-2793-4D7D-D143-A84CAC1F5A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93C9E6-4365-77B4-1458-A4D70A9AEC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465B69-FE35-35F6-7030-01D24191F920}"/>
              </a:ext>
            </a:extLst>
          </p:cNvPr>
          <p:cNvSpPr>
            <a:spLocks noGrp="1"/>
          </p:cNvSpPr>
          <p:nvPr>
            <p:ph type="dt" sz="half" idx="10"/>
          </p:nvPr>
        </p:nvSpPr>
        <p:spPr/>
        <p:txBody>
          <a:bodyPr/>
          <a:lstStyle/>
          <a:p>
            <a:fld id="{73E5EE70-ECE2-484F-AEAB-E525CE8398E1}" type="datetimeFigureOut">
              <a:rPr lang="en-US" smtClean="0"/>
              <a:t>7/31/2025</a:t>
            </a:fld>
            <a:endParaRPr lang="en-US"/>
          </a:p>
        </p:txBody>
      </p:sp>
      <p:sp>
        <p:nvSpPr>
          <p:cNvPr id="6" name="Footer Placeholder 5">
            <a:extLst>
              <a:ext uri="{FF2B5EF4-FFF2-40B4-BE49-F238E27FC236}">
                <a16:creationId xmlns:a16="http://schemas.microsoft.com/office/drawing/2014/main" id="{691D8E11-92E9-C2BE-C7F0-84D2EB33A8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B757E1-7AB6-CBE0-5AEC-3DC4E40F0224}"/>
              </a:ext>
            </a:extLst>
          </p:cNvPr>
          <p:cNvSpPr>
            <a:spLocks noGrp="1"/>
          </p:cNvSpPr>
          <p:nvPr>
            <p:ph type="sldNum" sz="quarter" idx="12"/>
          </p:nvPr>
        </p:nvSpPr>
        <p:spPr/>
        <p:txBody>
          <a:bodyPr/>
          <a:lstStyle/>
          <a:p>
            <a:fld id="{2475EC79-F0A5-4E40-B5B4-76E97BE36872}" type="slidenum">
              <a:rPr lang="en-US" smtClean="0"/>
              <a:t>‹#›</a:t>
            </a:fld>
            <a:endParaRPr lang="en-US"/>
          </a:p>
        </p:txBody>
      </p:sp>
    </p:spTree>
    <p:extLst>
      <p:ext uri="{BB962C8B-B14F-4D97-AF65-F5344CB8AC3E}">
        <p14:creationId xmlns:p14="http://schemas.microsoft.com/office/powerpoint/2010/main" val="155214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F03D3-4757-37F2-C3D3-9F0E2FB913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7EAA68-1634-72FC-268F-B3A2045523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AC49AC-ECD7-FD9C-C779-BBB674C988C2}"/>
              </a:ext>
            </a:extLst>
          </p:cNvPr>
          <p:cNvSpPr>
            <a:spLocks noGrp="1"/>
          </p:cNvSpPr>
          <p:nvPr>
            <p:ph type="dt" sz="half" idx="10"/>
          </p:nvPr>
        </p:nvSpPr>
        <p:spPr/>
        <p:txBody>
          <a:bodyPr/>
          <a:lstStyle/>
          <a:p>
            <a:fld id="{73E5EE70-ECE2-484F-AEAB-E525CE8398E1}" type="datetimeFigureOut">
              <a:rPr lang="en-US" smtClean="0"/>
              <a:t>7/31/2025</a:t>
            </a:fld>
            <a:endParaRPr lang="en-US"/>
          </a:p>
        </p:txBody>
      </p:sp>
      <p:sp>
        <p:nvSpPr>
          <p:cNvPr id="5" name="Footer Placeholder 4">
            <a:extLst>
              <a:ext uri="{FF2B5EF4-FFF2-40B4-BE49-F238E27FC236}">
                <a16:creationId xmlns:a16="http://schemas.microsoft.com/office/drawing/2014/main" id="{8B8C326F-85E7-92F0-D516-412776403E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5ACEFE-4082-C43B-3759-ECDFE93DF3D6}"/>
              </a:ext>
            </a:extLst>
          </p:cNvPr>
          <p:cNvSpPr>
            <a:spLocks noGrp="1"/>
          </p:cNvSpPr>
          <p:nvPr>
            <p:ph type="sldNum" sz="quarter" idx="12"/>
          </p:nvPr>
        </p:nvSpPr>
        <p:spPr/>
        <p:txBody>
          <a:bodyPr/>
          <a:lstStyle/>
          <a:p>
            <a:fld id="{2475EC79-F0A5-4E40-B5B4-76E97BE36872}" type="slidenum">
              <a:rPr lang="en-US" smtClean="0"/>
              <a:t>‹#›</a:t>
            </a:fld>
            <a:endParaRPr lang="en-US"/>
          </a:p>
        </p:txBody>
      </p:sp>
    </p:spTree>
    <p:extLst>
      <p:ext uri="{BB962C8B-B14F-4D97-AF65-F5344CB8AC3E}">
        <p14:creationId xmlns:p14="http://schemas.microsoft.com/office/powerpoint/2010/main" val="3899711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45397E-2DE0-E92B-2CFB-1C28EF5F0A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7ABBEE-091C-DE95-7CFF-7021FD06B7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1A1AA6-8850-5F81-4681-79BB8555FDFD}"/>
              </a:ext>
            </a:extLst>
          </p:cNvPr>
          <p:cNvSpPr>
            <a:spLocks noGrp="1"/>
          </p:cNvSpPr>
          <p:nvPr>
            <p:ph type="dt" sz="half" idx="10"/>
          </p:nvPr>
        </p:nvSpPr>
        <p:spPr/>
        <p:txBody>
          <a:bodyPr/>
          <a:lstStyle/>
          <a:p>
            <a:fld id="{73E5EE70-ECE2-484F-AEAB-E525CE8398E1}" type="datetimeFigureOut">
              <a:rPr lang="en-US" smtClean="0"/>
              <a:t>7/31/2025</a:t>
            </a:fld>
            <a:endParaRPr lang="en-US"/>
          </a:p>
        </p:txBody>
      </p:sp>
      <p:sp>
        <p:nvSpPr>
          <p:cNvPr id="5" name="Footer Placeholder 4">
            <a:extLst>
              <a:ext uri="{FF2B5EF4-FFF2-40B4-BE49-F238E27FC236}">
                <a16:creationId xmlns:a16="http://schemas.microsoft.com/office/drawing/2014/main" id="{F2C142AC-38B0-3097-9E58-A05FE5E324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007579-6C14-AEA7-7272-8AC0DE7CB766}"/>
              </a:ext>
            </a:extLst>
          </p:cNvPr>
          <p:cNvSpPr>
            <a:spLocks noGrp="1"/>
          </p:cNvSpPr>
          <p:nvPr>
            <p:ph type="sldNum" sz="quarter" idx="12"/>
          </p:nvPr>
        </p:nvSpPr>
        <p:spPr/>
        <p:txBody>
          <a:bodyPr/>
          <a:lstStyle/>
          <a:p>
            <a:fld id="{2475EC79-F0A5-4E40-B5B4-76E97BE36872}" type="slidenum">
              <a:rPr lang="en-US" smtClean="0"/>
              <a:t>‹#›</a:t>
            </a:fld>
            <a:endParaRPr lang="en-US"/>
          </a:p>
        </p:txBody>
      </p:sp>
    </p:spTree>
    <p:extLst>
      <p:ext uri="{BB962C8B-B14F-4D97-AF65-F5344CB8AC3E}">
        <p14:creationId xmlns:p14="http://schemas.microsoft.com/office/powerpoint/2010/main" val="1345711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E92720-B478-04AC-923C-EF9AFF3CF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D8E2EF-5EEB-CDDB-2419-16A29441A6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35F39-2303-BA91-AD90-551BB64492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E5EE70-ECE2-484F-AEAB-E525CE8398E1}" type="datetimeFigureOut">
              <a:rPr lang="en-US" smtClean="0"/>
              <a:t>7/31/2025</a:t>
            </a:fld>
            <a:endParaRPr lang="en-US"/>
          </a:p>
        </p:txBody>
      </p:sp>
      <p:sp>
        <p:nvSpPr>
          <p:cNvPr id="5" name="Footer Placeholder 4">
            <a:extLst>
              <a:ext uri="{FF2B5EF4-FFF2-40B4-BE49-F238E27FC236}">
                <a16:creationId xmlns:a16="http://schemas.microsoft.com/office/drawing/2014/main" id="{4E597057-E491-39DD-1250-6313B9C8B3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B649465-E234-1E2F-A8DB-56C23A5458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75EC79-F0A5-4E40-B5B4-76E97BE36872}" type="slidenum">
              <a:rPr lang="en-US" smtClean="0"/>
              <a:t>‹#›</a:t>
            </a:fld>
            <a:endParaRPr lang="en-US"/>
          </a:p>
        </p:txBody>
      </p:sp>
    </p:spTree>
    <p:extLst>
      <p:ext uri="{BB962C8B-B14F-4D97-AF65-F5344CB8AC3E}">
        <p14:creationId xmlns:p14="http://schemas.microsoft.com/office/powerpoint/2010/main" val="4045128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ACEA8-D470-28E5-33A6-41562AC5FD64}"/>
              </a:ext>
            </a:extLst>
          </p:cNvPr>
          <p:cNvSpPr>
            <a:spLocks noGrp="1"/>
          </p:cNvSpPr>
          <p:nvPr>
            <p:ph type="ctrTitle"/>
          </p:nvPr>
        </p:nvSpPr>
        <p:spPr/>
        <p:txBody>
          <a:bodyPr/>
          <a:lstStyle/>
          <a:p>
            <a:r>
              <a:rPr lang="en-US"/>
              <a:t>Angular – Week 6</a:t>
            </a:r>
            <a:br>
              <a:rPr lang="en-US"/>
            </a:br>
            <a:endParaRPr lang="en-US"/>
          </a:p>
        </p:txBody>
      </p:sp>
      <p:sp>
        <p:nvSpPr>
          <p:cNvPr id="3" name="Subtitle 2">
            <a:extLst>
              <a:ext uri="{FF2B5EF4-FFF2-40B4-BE49-F238E27FC236}">
                <a16:creationId xmlns:a16="http://schemas.microsoft.com/office/drawing/2014/main" id="{9810C080-B203-C38E-393F-F9DC31C220C0}"/>
              </a:ext>
            </a:extLst>
          </p:cNvPr>
          <p:cNvSpPr>
            <a:spLocks noGrp="1"/>
          </p:cNvSpPr>
          <p:nvPr>
            <p:ph type="subTitle" idx="1"/>
          </p:nvPr>
        </p:nvSpPr>
        <p:spPr/>
        <p:txBody>
          <a:bodyPr/>
          <a:lstStyle/>
          <a:p>
            <a:pPr marL="342900" indent="-342900" algn="l">
              <a:buFont typeface="Arial" panose="020B0604020202020204" pitchFamily="34" charset="0"/>
              <a:buChar char="•"/>
            </a:pPr>
            <a:r>
              <a:rPr lang="en-US"/>
              <a:t>Directives</a:t>
            </a:r>
          </a:p>
          <a:p>
            <a:pPr marL="342900" indent="-342900" algn="l">
              <a:buFont typeface="Arial" panose="020B0604020202020204" pitchFamily="34" charset="0"/>
              <a:buChar char="•"/>
            </a:pPr>
            <a:r>
              <a:rPr lang="en-US"/>
              <a:t>Pipes</a:t>
            </a:r>
          </a:p>
        </p:txBody>
      </p:sp>
    </p:spTree>
    <p:extLst>
      <p:ext uri="{BB962C8B-B14F-4D97-AF65-F5344CB8AC3E}">
        <p14:creationId xmlns:p14="http://schemas.microsoft.com/office/powerpoint/2010/main" val="1699625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ABE68F-714E-5AE6-52CC-4D0F75F889C2}"/>
              </a:ext>
            </a:extLst>
          </p:cNvPr>
          <p:cNvSpPr>
            <a:spLocks noGrp="1"/>
          </p:cNvSpPr>
          <p:nvPr>
            <p:ph type="title"/>
          </p:nvPr>
        </p:nvSpPr>
        <p:spPr>
          <a:xfrm>
            <a:off x="1008184" y="174032"/>
            <a:ext cx="10175631" cy="1111843"/>
          </a:xfrm>
        </p:spPr>
        <p:txBody>
          <a:bodyPr anchor="ctr">
            <a:normAutofit/>
          </a:bodyPr>
          <a:lstStyle/>
          <a:p>
            <a:pPr algn="ctr"/>
            <a:r>
              <a:rPr lang="en-US" sz="4000"/>
              <a:t>Directives</a:t>
            </a:r>
          </a:p>
        </p:txBody>
      </p:sp>
      <p:sp>
        <p:nvSpPr>
          <p:cNvPr id="3" name="Content Placeholder 2">
            <a:extLst>
              <a:ext uri="{FF2B5EF4-FFF2-40B4-BE49-F238E27FC236}">
                <a16:creationId xmlns:a16="http://schemas.microsoft.com/office/drawing/2014/main" id="{2D3DA356-A32E-7A5C-C7DE-A42CDEDA2A2E}"/>
              </a:ext>
            </a:extLst>
          </p:cNvPr>
          <p:cNvSpPr>
            <a:spLocks noGrp="1"/>
          </p:cNvSpPr>
          <p:nvPr>
            <p:ph idx="1"/>
          </p:nvPr>
        </p:nvSpPr>
        <p:spPr>
          <a:xfrm>
            <a:off x="1008184" y="1320362"/>
            <a:ext cx="10175630" cy="907449"/>
          </a:xfrm>
        </p:spPr>
        <p:txBody>
          <a:bodyPr anchor="ctr">
            <a:normAutofit/>
          </a:bodyPr>
          <a:lstStyle/>
          <a:p>
            <a:pPr marL="0" indent="0">
              <a:buNone/>
            </a:pPr>
            <a:r>
              <a:rPr lang="en-US" sz="2000"/>
              <a:t>Directives are custom HTML attributes which tell angular to change the style or behavior of the Dom elements.</a:t>
            </a:r>
          </a:p>
          <a:p>
            <a:pPr marL="0" indent="0" algn="ctr">
              <a:buNone/>
            </a:pPr>
            <a:endParaRPr lang="en-US" sz="2000"/>
          </a:p>
        </p:txBody>
      </p:sp>
      <p:pic>
        <p:nvPicPr>
          <p:cNvPr id="5" name="Picture 4" descr="A diagram of a structure&#10;&#10;Description automatically generated">
            <a:extLst>
              <a:ext uri="{FF2B5EF4-FFF2-40B4-BE49-F238E27FC236}">
                <a16:creationId xmlns:a16="http://schemas.microsoft.com/office/drawing/2014/main" id="{63664CD7-90EF-B25A-50C6-498B6C58780B}"/>
              </a:ext>
            </a:extLst>
          </p:cNvPr>
          <p:cNvPicPr>
            <a:picLocks noChangeAspect="1"/>
          </p:cNvPicPr>
          <p:nvPr/>
        </p:nvPicPr>
        <p:blipFill>
          <a:blip r:embed="rId2"/>
          <a:stretch>
            <a:fillRect/>
          </a:stretch>
        </p:blipFill>
        <p:spPr>
          <a:xfrm>
            <a:off x="2802324" y="2405149"/>
            <a:ext cx="6581254" cy="3899393"/>
          </a:xfrm>
          <a:prstGeom prst="rect">
            <a:avLst/>
          </a:prstGeom>
        </p:spPr>
      </p:pic>
    </p:spTree>
    <p:extLst>
      <p:ext uri="{BB962C8B-B14F-4D97-AF65-F5344CB8AC3E}">
        <p14:creationId xmlns:p14="http://schemas.microsoft.com/office/powerpoint/2010/main" val="662617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DDECE-0116-AB63-3A58-FC95DF9148F2}"/>
              </a:ext>
            </a:extLst>
          </p:cNvPr>
          <p:cNvSpPr>
            <a:spLocks noGrp="1"/>
          </p:cNvSpPr>
          <p:nvPr>
            <p:ph type="title"/>
          </p:nvPr>
        </p:nvSpPr>
        <p:spPr/>
        <p:txBody>
          <a:bodyPr/>
          <a:lstStyle/>
          <a:p>
            <a:r>
              <a:rPr lang="en-US"/>
              <a:t>Component Directives</a:t>
            </a:r>
          </a:p>
        </p:txBody>
      </p:sp>
      <p:sp>
        <p:nvSpPr>
          <p:cNvPr id="3" name="Content Placeholder 2">
            <a:extLst>
              <a:ext uri="{FF2B5EF4-FFF2-40B4-BE49-F238E27FC236}">
                <a16:creationId xmlns:a16="http://schemas.microsoft.com/office/drawing/2014/main" id="{3D35AB9C-2B49-12B2-C09D-3F77BE7B9AC5}"/>
              </a:ext>
            </a:extLst>
          </p:cNvPr>
          <p:cNvSpPr>
            <a:spLocks noGrp="1"/>
          </p:cNvSpPr>
          <p:nvPr>
            <p:ph idx="1"/>
          </p:nvPr>
        </p:nvSpPr>
        <p:spPr/>
        <p:txBody>
          <a:bodyPr>
            <a:normAutofit/>
          </a:bodyPr>
          <a:lstStyle/>
          <a:p>
            <a:r>
              <a:rPr lang="en-US" sz="1600"/>
              <a:t>Components are directives with templates. The only difference between Components and the other two types of directives is the Template. Attribute and Structural Directives don't have Templates. So, we can say that the Component is a cleaner version of the Directive with a template, which is easier to use.</a:t>
            </a:r>
          </a:p>
        </p:txBody>
      </p:sp>
    </p:spTree>
    <p:extLst>
      <p:ext uri="{BB962C8B-B14F-4D97-AF65-F5344CB8AC3E}">
        <p14:creationId xmlns:p14="http://schemas.microsoft.com/office/powerpoint/2010/main" val="4058993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4726-6A90-63A4-18D0-DDA9EE5B234E}"/>
              </a:ext>
            </a:extLst>
          </p:cNvPr>
          <p:cNvSpPr>
            <a:spLocks noGrp="1"/>
          </p:cNvSpPr>
          <p:nvPr>
            <p:ph type="title"/>
          </p:nvPr>
        </p:nvSpPr>
        <p:spPr/>
        <p:txBody>
          <a:bodyPr/>
          <a:lstStyle/>
          <a:p>
            <a:r>
              <a:rPr lang="en-US"/>
              <a:t>Attribute Directives</a:t>
            </a:r>
          </a:p>
        </p:txBody>
      </p:sp>
      <p:sp>
        <p:nvSpPr>
          <p:cNvPr id="3" name="Content Placeholder 2">
            <a:extLst>
              <a:ext uri="{FF2B5EF4-FFF2-40B4-BE49-F238E27FC236}">
                <a16:creationId xmlns:a16="http://schemas.microsoft.com/office/drawing/2014/main" id="{632E7C7B-A66F-486E-9DB4-5C9F84BDBDD6}"/>
              </a:ext>
            </a:extLst>
          </p:cNvPr>
          <p:cNvSpPr>
            <a:spLocks noGrp="1"/>
          </p:cNvSpPr>
          <p:nvPr>
            <p:ph idx="1"/>
          </p:nvPr>
        </p:nvSpPr>
        <p:spPr/>
        <p:txBody>
          <a:bodyPr>
            <a:normAutofit/>
          </a:bodyPr>
          <a:lstStyle/>
          <a:p>
            <a:r>
              <a:rPr lang="en-US" sz="1600"/>
              <a:t>Attribute directives listen to and modify the behavior of other HTML elements, attributes, properties, and components.</a:t>
            </a:r>
          </a:p>
          <a:p>
            <a:r>
              <a:rPr lang="en-US" sz="1600"/>
              <a:t>We use attribute directives to apply conditional style to elements, show or hide elements or dynamically change the behavior of a component according to a changing property.</a:t>
            </a:r>
          </a:p>
          <a:p>
            <a:pPr marL="0" indent="0">
              <a:buNone/>
            </a:pPr>
            <a:r>
              <a:rPr lang="en-US" sz="1600" b="1" u="sng"/>
              <a:t>Examples</a:t>
            </a:r>
          </a:p>
          <a:p>
            <a:r>
              <a:rPr lang="en-US" sz="1600" b="1" err="1"/>
              <a:t>ngClass</a:t>
            </a:r>
            <a:r>
              <a:rPr lang="en-US" sz="1600"/>
              <a:t> : The </a:t>
            </a:r>
            <a:r>
              <a:rPr lang="en-US" sz="1600" err="1"/>
              <a:t>ngClass</a:t>
            </a:r>
            <a:r>
              <a:rPr lang="en-US" sz="1600"/>
              <a:t> directive allows you to dynamically apply CSS classes to an element based on conditions or expressions.</a:t>
            </a:r>
          </a:p>
          <a:p>
            <a:pPr lvl="1"/>
            <a:endParaRPr lang="en-US" sz="1200"/>
          </a:p>
          <a:p>
            <a:pPr marL="0" indent="0">
              <a:buNone/>
            </a:pPr>
            <a:endParaRPr lang="en-US" sz="1600" b="1" u="sng"/>
          </a:p>
        </p:txBody>
      </p:sp>
      <p:pic>
        <p:nvPicPr>
          <p:cNvPr id="5" name="Picture 4">
            <a:extLst>
              <a:ext uri="{FF2B5EF4-FFF2-40B4-BE49-F238E27FC236}">
                <a16:creationId xmlns:a16="http://schemas.microsoft.com/office/drawing/2014/main" id="{80B83B47-A6AF-CD8D-582A-39D351A3F194}"/>
              </a:ext>
            </a:extLst>
          </p:cNvPr>
          <p:cNvPicPr>
            <a:picLocks noChangeAspect="1"/>
          </p:cNvPicPr>
          <p:nvPr/>
        </p:nvPicPr>
        <p:blipFill>
          <a:blip r:embed="rId2"/>
          <a:stretch>
            <a:fillRect/>
          </a:stretch>
        </p:blipFill>
        <p:spPr>
          <a:xfrm>
            <a:off x="987764" y="3766379"/>
            <a:ext cx="7683062" cy="1544377"/>
          </a:xfrm>
          <a:prstGeom prst="rect">
            <a:avLst/>
          </a:prstGeom>
        </p:spPr>
      </p:pic>
    </p:spTree>
    <p:extLst>
      <p:ext uri="{BB962C8B-B14F-4D97-AF65-F5344CB8AC3E}">
        <p14:creationId xmlns:p14="http://schemas.microsoft.com/office/powerpoint/2010/main" val="4235763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2F8EB-FEFF-90F3-00B3-39B9ED27B6BB}"/>
              </a:ext>
            </a:extLst>
          </p:cNvPr>
          <p:cNvSpPr>
            <a:spLocks noGrp="1"/>
          </p:cNvSpPr>
          <p:nvPr>
            <p:ph type="title"/>
          </p:nvPr>
        </p:nvSpPr>
        <p:spPr/>
        <p:txBody>
          <a:bodyPr/>
          <a:lstStyle/>
          <a:p>
            <a:r>
              <a:rPr lang="en-US"/>
              <a:t>Attribute Directives</a:t>
            </a:r>
          </a:p>
        </p:txBody>
      </p:sp>
      <p:sp>
        <p:nvSpPr>
          <p:cNvPr id="3" name="Content Placeholder 2">
            <a:extLst>
              <a:ext uri="{FF2B5EF4-FFF2-40B4-BE49-F238E27FC236}">
                <a16:creationId xmlns:a16="http://schemas.microsoft.com/office/drawing/2014/main" id="{C48EEF2F-E19F-7FDF-DB6F-B807845B2AE5}"/>
              </a:ext>
            </a:extLst>
          </p:cNvPr>
          <p:cNvSpPr>
            <a:spLocks noGrp="1"/>
          </p:cNvSpPr>
          <p:nvPr>
            <p:ph idx="1"/>
          </p:nvPr>
        </p:nvSpPr>
        <p:spPr/>
        <p:txBody>
          <a:bodyPr>
            <a:normAutofit/>
          </a:bodyPr>
          <a:lstStyle/>
          <a:p>
            <a:r>
              <a:rPr lang="en-US" sz="1600" b="1" err="1"/>
              <a:t>ngStyle</a:t>
            </a:r>
            <a:r>
              <a:rPr lang="en-US" sz="1600" b="1"/>
              <a:t> </a:t>
            </a:r>
            <a:r>
              <a:rPr lang="en-US" sz="1600"/>
              <a:t>: The </a:t>
            </a:r>
            <a:r>
              <a:rPr lang="en-US" sz="1600" err="1"/>
              <a:t>ngStyle</a:t>
            </a:r>
            <a:r>
              <a:rPr lang="en-US" sz="1600"/>
              <a:t> directive lets you apply inline styles to an element based on conditions or expressions.</a:t>
            </a:r>
          </a:p>
          <a:p>
            <a:endParaRPr lang="en-US" sz="1600"/>
          </a:p>
          <a:p>
            <a:endParaRPr lang="en-US" sz="1600"/>
          </a:p>
          <a:p>
            <a:endParaRPr lang="en-US" sz="1600"/>
          </a:p>
          <a:p>
            <a:endParaRPr lang="en-US" sz="1600"/>
          </a:p>
          <a:p>
            <a:pPr marL="0" indent="0">
              <a:buNone/>
            </a:pPr>
            <a:endParaRPr lang="en-US" sz="1600"/>
          </a:p>
          <a:p>
            <a:r>
              <a:rPr lang="en-US" sz="1600" b="1" err="1"/>
              <a:t>ngModel</a:t>
            </a:r>
            <a:r>
              <a:rPr lang="en-US" sz="1600"/>
              <a:t> : The </a:t>
            </a:r>
            <a:r>
              <a:rPr lang="en-US" sz="1600" err="1"/>
              <a:t>ngModel</a:t>
            </a:r>
            <a:r>
              <a:rPr lang="en-US" sz="1600"/>
              <a:t> directive is used for two-way data binding with form elements like input, select, and </a:t>
            </a:r>
            <a:r>
              <a:rPr lang="en-US" sz="1600" err="1"/>
              <a:t>textarea</a:t>
            </a:r>
            <a:r>
              <a:rPr lang="en-US" sz="1600"/>
              <a:t>.</a:t>
            </a:r>
          </a:p>
          <a:p>
            <a:endParaRPr lang="en-US" sz="1600"/>
          </a:p>
          <a:p>
            <a:pPr marL="0" indent="0">
              <a:buNone/>
            </a:pPr>
            <a:endParaRPr lang="en-US" sz="1600"/>
          </a:p>
          <a:p>
            <a:endParaRPr lang="en-US" sz="1600"/>
          </a:p>
          <a:p>
            <a:endParaRPr lang="en-US" sz="1600"/>
          </a:p>
        </p:txBody>
      </p:sp>
      <p:pic>
        <p:nvPicPr>
          <p:cNvPr id="5" name="Picture 4">
            <a:extLst>
              <a:ext uri="{FF2B5EF4-FFF2-40B4-BE49-F238E27FC236}">
                <a16:creationId xmlns:a16="http://schemas.microsoft.com/office/drawing/2014/main" id="{023388A5-1825-AE94-41DE-C09A316CADBE}"/>
              </a:ext>
            </a:extLst>
          </p:cNvPr>
          <p:cNvPicPr>
            <a:picLocks noChangeAspect="1"/>
          </p:cNvPicPr>
          <p:nvPr/>
        </p:nvPicPr>
        <p:blipFill>
          <a:blip r:embed="rId2"/>
          <a:stretch>
            <a:fillRect/>
          </a:stretch>
        </p:blipFill>
        <p:spPr>
          <a:xfrm>
            <a:off x="1134240" y="2171562"/>
            <a:ext cx="8784897" cy="1661896"/>
          </a:xfrm>
          <a:prstGeom prst="rect">
            <a:avLst/>
          </a:prstGeom>
        </p:spPr>
      </p:pic>
      <p:pic>
        <p:nvPicPr>
          <p:cNvPr id="15" name="Picture 14">
            <a:extLst>
              <a:ext uri="{FF2B5EF4-FFF2-40B4-BE49-F238E27FC236}">
                <a16:creationId xmlns:a16="http://schemas.microsoft.com/office/drawing/2014/main" id="{427959E1-8C8E-483D-B9DC-11B31A03D283}"/>
              </a:ext>
            </a:extLst>
          </p:cNvPr>
          <p:cNvPicPr>
            <a:picLocks noChangeAspect="1"/>
          </p:cNvPicPr>
          <p:nvPr/>
        </p:nvPicPr>
        <p:blipFill>
          <a:blip r:embed="rId3"/>
          <a:stretch>
            <a:fillRect/>
          </a:stretch>
        </p:blipFill>
        <p:spPr>
          <a:xfrm>
            <a:off x="1048406" y="4495206"/>
            <a:ext cx="7690945" cy="1020008"/>
          </a:xfrm>
          <a:prstGeom prst="rect">
            <a:avLst/>
          </a:prstGeom>
        </p:spPr>
      </p:pic>
    </p:spTree>
    <p:extLst>
      <p:ext uri="{BB962C8B-B14F-4D97-AF65-F5344CB8AC3E}">
        <p14:creationId xmlns:p14="http://schemas.microsoft.com/office/powerpoint/2010/main" val="194559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01E3EB-6416-E2AD-D552-B305B1FD3195}"/>
              </a:ext>
            </a:extLst>
          </p:cNvPr>
          <p:cNvSpPr>
            <a:spLocks noGrp="1"/>
          </p:cNvSpPr>
          <p:nvPr>
            <p:ph type="title"/>
          </p:nvPr>
        </p:nvSpPr>
        <p:spPr>
          <a:xfrm>
            <a:off x="1008184" y="174032"/>
            <a:ext cx="10175631" cy="1111843"/>
          </a:xfrm>
        </p:spPr>
        <p:txBody>
          <a:bodyPr anchor="ctr">
            <a:normAutofit/>
          </a:bodyPr>
          <a:lstStyle/>
          <a:p>
            <a:r>
              <a:rPr lang="en-US" sz="4000"/>
              <a:t>Structural Directives</a:t>
            </a:r>
          </a:p>
        </p:txBody>
      </p:sp>
      <p:sp>
        <p:nvSpPr>
          <p:cNvPr id="3" name="Content Placeholder 2">
            <a:extLst>
              <a:ext uri="{FF2B5EF4-FFF2-40B4-BE49-F238E27FC236}">
                <a16:creationId xmlns:a16="http://schemas.microsoft.com/office/drawing/2014/main" id="{4424597A-FB07-ED30-898E-AD8184613EA8}"/>
              </a:ext>
            </a:extLst>
          </p:cNvPr>
          <p:cNvSpPr>
            <a:spLocks noGrp="1"/>
          </p:cNvSpPr>
          <p:nvPr>
            <p:ph idx="1"/>
          </p:nvPr>
        </p:nvSpPr>
        <p:spPr>
          <a:xfrm>
            <a:off x="1008184" y="1459907"/>
            <a:ext cx="10175630" cy="767904"/>
          </a:xfrm>
        </p:spPr>
        <p:txBody>
          <a:bodyPr anchor="ctr">
            <a:normAutofit/>
          </a:bodyPr>
          <a:lstStyle/>
          <a:p>
            <a:pPr marL="0" indent="0">
              <a:buNone/>
            </a:pPr>
            <a:r>
              <a:rPr lang="en-US" sz="1700"/>
              <a:t>Structural directives are responsible for HTML layout. They shape or reshape the DOM's structure, typically by adding, removing, and manipulating the host elements to which they are attached.</a:t>
            </a:r>
          </a:p>
          <a:p>
            <a:pPr marL="0" indent="0" algn="ctr">
              <a:buNone/>
            </a:pPr>
            <a:endParaRPr lang="en-US" sz="1700"/>
          </a:p>
        </p:txBody>
      </p:sp>
      <p:pic>
        <p:nvPicPr>
          <p:cNvPr id="5" name="Picture 4" descr="A screenshot of a computer&#10;&#10;Description automatically generated">
            <a:extLst>
              <a:ext uri="{FF2B5EF4-FFF2-40B4-BE49-F238E27FC236}">
                <a16:creationId xmlns:a16="http://schemas.microsoft.com/office/drawing/2014/main" id="{5DF7EA30-EEE6-E297-8802-DBE948EE12E5}"/>
              </a:ext>
            </a:extLst>
          </p:cNvPr>
          <p:cNvPicPr>
            <a:picLocks noChangeAspect="1"/>
          </p:cNvPicPr>
          <p:nvPr/>
        </p:nvPicPr>
        <p:blipFill>
          <a:blip r:embed="rId2"/>
          <a:stretch>
            <a:fillRect/>
          </a:stretch>
        </p:blipFill>
        <p:spPr>
          <a:xfrm>
            <a:off x="858866" y="2405149"/>
            <a:ext cx="10468170" cy="3899393"/>
          </a:xfrm>
          <a:prstGeom prst="rect">
            <a:avLst/>
          </a:prstGeom>
        </p:spPr>
      </p:pic>
    </p:spTree>
    <p:extLst>
      <p:ext uri="{BB962C8B-B14F-4D97-AF65-F5344CB8AC3E}">
        <p14:creationId xmlns:p14="http://schemas.microsoft.com/office/powerpoint/2010/main" val="4249592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A1F8B-166B-B3B4-688B-812E9AAD94FA}"/>
              </a:ext>
            </a:extLst>
          </p:cNvPr>
          <p:cNvSpPr>
            <a:spLocks noGrp="1"/>
          </p:cNvSpPr>
          <p:nvPr>
            <p:ph type="title"/>
          </p:nvPr>
        </p:nvSpPr>
        <p:spPr/>
        <p:txBody>
          <a:bodyPr anchor="b">
            <a:normAutofit/>
          </a:bodyPr>
          <a:lstStyle/>
          <a:p>
            <a:r>
              <a:rPr lang="en-US" sz="4000"/>
              <a:t>Structural Directives</a:t>
            </a:r>
          </a:p>
        </p:txBody>
      </p:sp>
      <p:sp>
        <p:nvSpPr>
          <p:cNvPr id="10" name="Content Placeholder 9">
            <a:extLst>
              <a:ext uri="{FF2B5EF4-FFF2-40B4-BE49-F238E27FC236}">
                <a16:creationId xmlns:a16="http://schemas.microsoft.com/office/drawing/2014/main" id="{FEA055C6-6B0B-41BE-C13A-E76048C9EEB1}"/>
              </a:ext>
            </a:extLst>
          </p:cNvPr>
          <p:cNvSpPr>
            <a:spLocks noGrp="1"/>
          </p:cNvSpPr>
          <p:nvPr>
            <p:ph idx="1"/>
          </p:nvPr>
        </p:nvSpPr>
        <p:spPr/>
        <p:txBody>
          <a:bodyPr>
            <a:normAutofit/>
          </a:bodyPr>
          <a:lstStyle/>
          <a:p>
            <a:r>
              <a:rPr lang="en-US" sz="1600" b="1"/>
              <a:t>Adding or removing an element with </a:t>
            </a:r>
            <a:r>
              <a:rPr lang="en-US" sz="1600" b="1" err="1"/>
              <a:t>NgIf</a:t>
            </a:r>
            <a:endParaRPr lang="en-US" sz="1600" b="1"/>
          </a:p>
          <a:p>
            <a:pPr lvl="1"/>
            <a:r>
              <a:rPr lang="en-US" sz="1600"/>
              <a:t>By default, </a:t>
            </a:r>
            <a:r>
              <a:rPr lang="en-US" sz="1600" err="1"/>
              <a:t>NgIf</a:t>
            </a:r>
            <a:r>
              <a:rPr lang="en-US" sz="1600"/>
              <a:t> prevents display of an element bound to a null value.</a:t>
            </a:r>
          </a:p>
          <a:p>
            <a:pPr lvl="1"/>
            <a:r>
              <a:rPr lang="en-US" sz="1600"/>
              <a:t>To use </a:t>
            </a:r>
            <a:r>
              <a:rPr lang="en-US" sz="1600" err="1"/>
              <a:t>NgIf</a:t>
            </a:r>
            <a:r>
              <a:rPr lang="en-US" sz="1600"/>
              <a:t> to guard a &lt;div&gt;, add *</a:t>
            </a:r>
            <a:r>
              <a:rPr lang="en-US" sz="1600" err="1"/>
              <a:t>ngIf</a:t>
            </a:r>
            <a:r>
              <a:rPr lang="en-US" sz="1600"/>
              <a:t>="</a:t>
            </a:r>
            <a:r>
              <a:rPr lang="en-US" sz="1600" err="1"/>
              <a:t>yourProperty</a:t>
            </a:r>
            <a:r>
              <a:rPr lang="en-US" sz="1600"/>
              <a:t>" to the &lt;div&gt;. In the following example, the </a:t>
            </a:r>
            <a:r>
              <a:rPr lang="en-US" sz="1600" err="1"/>
              <a:t>currentCustomer</a:t>
            </a:r>
            <a:r>
              <a:rPr lang="en-US" sz="1600"/>
              <a:t> name appears because there is a </a:t>
            </a:r>
            <a:r>
              <a:rPr lang="en-US" sz="1600" err="1"/>
              <a:t>currentCustomer</a:t>
            </a:r>
            <a:r>
              <a:rPr lang="en-US" sz="1600"/>
              <a:t>.</a:t>
            </a:r>
          </a:p>
          <a:p>
            <a:pPr lvl="1"/>
            <a:endParaRPr lang="en-US" sz="1600"/>
          </a:p>
          <a:p>
            <a:pPr marL="457200" lvl="1" indent="0">
              <a:buNone/>
            </a:pPr>
            <a:endParaRPr lang="en-US" sz="1600"/>
          </a:p>
          <a:p>
            <a:pPr marL="457200" lvl="1" indent="0">
              <a:buNone/>
            </a:pPr>
            <a:endParaRPr lang="en-US" sz="1600"/>
          </a:p>
          <a:p>
            <a:r>
              <a:rPr lang="en-US" sz="1600" b="1"/>
              <a:t>Listing items with </a:t>
            </a:r>
            <a:r>
              <a:rPr lang="en-US" sz="1600" b="1" err="1"/>
              <a:t>NgFor</a:t>
            </a:r>
            <a:endParaRPr lang="en-US" sz="1600" b="1"/>
          </a:p>
          <a:p>
            <a:pPr lvl="1"/>
            <a:r>
              <a:rPr lang="en-US" sz="1600"/>
              <a:t>Use the </a:t>
            </a:r>
            <a:r>
              <a:rPr lang="en-US" sz="1600" err="1"/>
              <a:t>NgFor</a:t>
            </a:r>
            <a:r>
              <a:rPr lang="en-US" sz="1600"/>
              <a:t> directive to present a list of items.</a:t>
            </a:r>
          </a:p>
          <a:p>
            <a:pPr lvl="2"/>
            <a:r>
              <a:rPr lang="en-US" sz="1600"/>
              <a:t>Define a block of HTML that determines how Angular renders a single item.</a:t>
            </a:r>
          </a:p>
          <a:p>
            <a:pPr lvl="2"/>
            <a:r>
              <a:rPr lang="en-US" sz="1600"/>
              <a:t>To list your items, assign the shorthand let item of items to *</a:t>
            </a:r>
            <a:r>
              <a:rPr lang="en-US" sz="1600" err="1"/>
              <a:t>ngFor</a:t>
            </a:r>
            <a:r>
              <a:rPr lang="en-US" sz="1600"/>
              <a:t>.</a:t>
            </a:r>
          </a:p>
          <a:p>
            <a:pPr lvl="1"/>
            <a:endParaRPr lang="en-US" sz="1600"/>
          </a:p>
          <a:p>
            <a:pPr lvl="1"/>
            <a:endParaRPr lang="en-US" sz="1600"/>
          </a:p>
        </p:txBody>
      </p:sp>
      <p:pic>
        <p:nvPicPr>
          <p:cNvPr id="15" name="Picture 14" descr="A blue and white rectangle with black text&#10;&#10;Description automatically generated">
            <a:extLst>
              <a:ext uri="{FF2B5EF4-FFF2-40B4-BE49-F238E27FC236}">
                <a16:creationId xmlns:a16="http://schemas.microsoft.com/office/drawing/2014/main" id="{D6D9ED80-8154-756F-C134-41E4025A6053}"/>
              </a:ext>
            </a:extLst>
          </p:cNvPr>
          <p:cNvPicPr>
            <a:picLocks noChangeAspect="1"/>
          </p:cNvPicPr>
          <p:nvPr/>
        </p:nvPicPr>
        <p:blipFill>
          <a:blip r:embed="rId2"/>
          <a:stretch>
            <a:fillRect/>
          </a:stretch>
        </p:blipFill>
        <p:spPr>
          <a:xfrm>
            <a:off x="1623275" y="5089695"/>
            <a:ext cx="4881409" cy="869672"/>
          </a:xfrm>
          <a:prstGeom prst="rect">
            <a:avLst/>
          </a:prstGeom>
        </p:spPr>
      </p:pic>
      <p:pic>
        <p:nvPicPr>
          <p:cNvPr id="12" name="Picture 11" descr="A blue and white rectangle with black text&#10;&#10;Description automatically generated">
            <a:extLst>
              <a:ext uri="{FF2B5EF4-FFF2-40B4-BE49-F238E27FC236}">
                <a16:creationId xmlns:a16="http://schemas.microsoft.com/office/drawing/2014/main" id="{17BA3890-FD66-1878-E8CB-54A4946305E9}"/>
              </a:ext>
            </a:extLst>
          </p:cNvPr>
          <p:cNvPicPr>
            <a:picLocks noChangeAspect="1"/>
          </p:cNvPicPr>
          <p:nvPr/>
        </p:nvPicPr>
        <p:blipFill>
          <a:blip r:embed="rId3"/>
          <a:stretch>
            <a:fillRect/>
          </a:stretch>
        </p:blipFill>
        <p:spPr>
          <a:xfrm>
            <a:off x="1501092" y="2907079"/>
            <a:ext cx="4958829" cy="869672"/>
          </a:xfrm>
          <a:prstGeom prst="rect">
            <a:avLst/>
          </a:prstGeom>
        </p:spPr>
      </p:pic>
    </p:spTree>
    <p:extLst>
      <p:ext uri="{BB962C8B-B14F-4D97-AF65-F5344CB8AC3E}">
        <p14:creationId xmlns:p14="http://schemas.microsoft.com/office/powerpoint/2010/main" val="3835049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065AA-85F3-DFC6-1BF3-AD83C9210815}"/>
              </a:ext>
            </a:extLst>
          </p:cNvPr>
          <p:cNvSpPr>
            <a:spLocks noGrp="1"/>
          </p:cNvSpPr>
          <p:nvPr>
            <p:ph type="title"/>
          </p:nvPr>
        </p:nvSpPr>
        <p:spPr/>
        <p:txBody>
          <a:bodyPr/>
          <a:lstStyle/>
          <a:p>
            <a:r>
              <a:rPr lang="en-US" dirty="0"/>
              <a:t>Conditional Rendering (Angular 17+)</a:t>
            </a:r>
          </a:p>
        </p:txBody>
      </p:sp>
      <p:sp>
        <p:nvSpPr>
          <p:cNvPr id="3" name="Content Placeholder 2">
            <a:extLst>
              <a:ext uri="{FF2B5EF4-FFF2-40B4-BE49-F238E27FC236}">
                <a16:creationId xmlns:a16="http://schemas.microsoft.com/office/drawing/2014/main" id="{449F0060-4187-E558-6324-A1AF2F11EEA1}"/>
              </a:ext>
            </a:extLst>
          </p:cNvPr>
          <p:cNvSpPr>
            <a:spLocks noGrp="1"/>
          </p:cNvSpPr>
          <p:nvPr>
            <p:ph idx="1"/>
          </p:nvPr>
        </p:nvSpPr>
        <p:spPr/>
        <p:txBody>
          <a:bodyPr vert="horz" lIns="91440" tIns="45720" rIns="91440" bIns="45720" rtlCol="0" anchor="t">
            <a:normAutofit/>
          </a:bodyPr>
          <a:lstStyle/>
          <a:p>
            <a:r>
              <a:rPr lang="en-US" dirty="0"/>
              <a:t>@if() {}</a:t>
            </a:r>
          </a:p>
          <a:p>
            <a:r>
              <a:rPr lang="en-US" dirty="0"/>
              <a:t>@for( track ){}</a:t>
            </a:r>
            <a:br>
              <a:rPr lang="en-US" dirty="0"/>
            </a:br>
            <a:br>
              <a:rPr lang="en-US" dirty="0"/>
            </a:br>
            <a:r>
              <a:rPr lang="en-US" dirty="0">
                <a:ea typeface="+mn-lt"/>
                <a:cs typeface="+mn-lt"/>
              </a:rPr>
              <a:t>https://angular.dev/tutorials/learn-angular/5-control-flow-for</a:t>
            </a:r>
            <a:endParaRPr lang="en-US" dirty="0"/>
          </a:p>
        </p:txBody>
      </p:sp>
    </p:spTree>
    <p:extLst>
      <p:ext uri="{BB962C8B-B14F-4D97-AF65-F5344CB8AC3E}">
        <p14:creationId xmlns:p14="http://schemas.microsoft.com/office/powerpoint/2010/main" val="2644353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4E0DBA-30AB-91DB-0956-8BA58ADB55FC}"/>
              </a:ext>
            </a:extLst>
          </p:cNvPr>
          <p:cNvSpPr>
            <a:spLocks noGrp="1"/>
          </p:cNvSpPr>
          <p:nvPr>
            <p:ph type="title"/>
          </p:nvPr>
        </p:nvSpPr>
        <p:spPr>
          <a:xfrm>
            <a:off x="687010" y="499398"/>
            <a:ext cx="6392128" cy="647544"/>
          </a:xfrm>
        </p:spPr>
        <p:txBody>
          <a:bodyPr anchor="b">
            <a:normAutofit/>
          </a:bodyPr>
          <a:lstStyle/>
          <a:p>
            <a:r>
              <a:rPr lang="en-US" sz="4000"/>
              <a:t>Structural Directives</a:t>
            </a:r>
          </a:p>
        </p:txBody>
      </p:sp>
      <p:sp>
        <p:nvSpPr>
          <p:cNvPr id="3" name="Content Placeholder 2">
            <a:extLst>
              <a:ext uri="{FF2B5EF4-FFF2-40B4-BE49-F238E27FC236}">
                <a16:creationId xmlns:a16="http://schemas.microsoft.com/office/drawing/2014/main" id="{1FCAC898-2B55-7079-0755-0FA345C90B75}"/>
              </a:ext>
            </a:extLst>
          </p:cNvPr>
          <p:cNvSpPr>
            <a:spLocks noGrp="1"/>
          </p:cNvSpPr>
          <p:nvPr>
            <p:ph idx="1"/>
          </p:nvPr>
        </p:nvSpPr>
        <p:spPr>
          <a:xfrm>
            <a:off x="811923" y="1269125"/>
            <a:ext cx="10980683" cy="4690241"/>
          </a:xfrm>
        </p:spPr>
        <p:txBody>
          <a:bodyPr>
            <a:normAutofit/>
          </a:bodyPr>
          <a:lstStyle/>
          <a:p>
            <a:r>
              <a:rPr lang="en-US" sz="2000" b="1"/>
              <a:t>Switching cases with </a:t>
            </a:r>
            <a:r>
              <a:rPr lang="en-US" sz="2000" b="1" err="1"/>
              <a:t>NgSwitch</a:t>
            </a:r>
            <a:endParaRPr lang="en-US" sz="2000" b="1"/>
          </a:p>
          <a:p>
            <a:pPr lvl="1"/>
            <a:r>
              <a:rPr lang="en-US" sz="2000"/>
              <a:t>Like the JavaScript switch statement, </a:t>
            </a:r>
            <a:r>
              <a:rPr lang="en-US" sz="2000" err="1"/>
              <a:t>NgSwitch</a:t>
            </a:r>
            <a:r>
              <a:rPr lang="en-US" sz="2000"/>
              <a:t> displays one element from among several possible elements, based on a switch condition. Angular puts only the selected element into the DOM.</a:t>
            </a:r>
          </a:p>
          <a:p>
            <a:endParaRPr lang="en-US" sz="2000" b="1"/>
          </a:p>
        </p:txBody>
      </p:sp>
      <p:pic>
        <p:nvPicPr>
          <p:cNvPr id="5" name="Picture 4">
            <a:extLst>
              <a:ext uri="{FF2B5EF4-FFF2-40B4-BE49-F238E27FC236}">
                <a16:creationId xmlns:a16="http://schemas.microsoft.com/office/drawing/2014/main" id="{7C89BB57-9BDE-9806-6EF4-3A3606274795}"/>
              </a:ext>
            </a:extLst>
          </p:cNvPr>
          <p:cNvPicPr>
            <a:picLocks noChangeAspect="1"/>
          </p:cNvPicPr>
          <p:nvPr/>
        </p:nvPicPr>
        <p:blipFill>
          <a:blip r:embed="rId2"/>
          <a:stretch>
            <a:fillRect/>
          </a:stretch>
        </p:blipFill>
        <p:spPr>
          <a:xfrm>
            <a:off x="2579684" y="2569779"/>
            <a:ext cx="7049106" cy="2920562"/>
          </a:xfrm>
          <a:prstGeom prst="rect">
            <a:avLst/>
          </a:prstGeom>
        </p:spPr>
      </p:pic>
      <p:sp>
        <p:nvSpPr>
          <p:cNvPr id="12" name="Rectangle 11">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1790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9D401-A240-8F36-811D-CB505DA40342}"/>
              </a:ext>
            </a:extLst>
          </p:cNvPr>
          <p:cNvSpPr>
            <a:spLocks noGrp="1"/>
          </p:cNvSpPr>
          <p:nvPr>
            <p:ph type="title"/>
          </p:nvPr>
        </p:nvSpPr>
        <p:spPr>
          <a:xfrm>
            <a:off x="838200" y="365126"/>
            <a:ext cx="10515600" cy="1116834"/>
          </a:xfrm>
        </p:spPr>
        <p:txBody>
          <a:bodyPr/>
          <a:lstStyle/>
          <a:p>
            <a:r>
              <a:rPr lang="en-US"/>
              <a:t>Creating a Custom Attribute Directive</a:t>
            </a:r>
          </a:p>
        </p:txBody>
      </p:sp>
      <p:sp>
        <p:nvSpPr>
          <p:cNvPr id="3" name="Content Placeholder 2">
            <a:extLst>
              <a:ext uri="{FF2B5EF4-FFF2-40B4-BE49-F238E27FC236}">
                <a16:creationId xmlns:a16="http://schemas.microsoft.com/office/drawing/2014/main" id="{1173D58C-2C6C-E6C0-6694-1530D3F20CD1}"/>
              </a:ext>
            </a:extLst>
          </p:cNvPr>
          <p:cNvSpPr>
            <a:spLocks noGrp="1"/>
          </p:cNvSpPr>
          <p:nvPr>
            <p:ph idx="1"/>
          </p:nvPr>
        </p:nvSpPr>
        <p:spPr>
          <a:xfrm>
            <a:off x="838200" y="1615966"/>
            <a:ext cx="10515600" cy="4560997"/>
          </a:xfrm>
        </p:spPr>
        <p:txBody>
          <a:bodyPr>
            <a:normAutofit/>
          </a:bodyPr>
          <a:lstStyle/>
          <a:p>
            <a:r>
              <a:rPr lang="en-US" sz="1600"/>
              <a:t>Creating a custom directive is just like creating an Angular component. To create a custom directive we have to replace @Component decorator with @Directive decorator.</a:t>
            </a:r>
          </a:p>
          <a:p>
            <a:r>
              <a:rPr lang="en-US" sz="1600"/>
              <a:t>Create an </a:t>
            </a:r>
            <a:r>
              <a:rPr lang="en-US" sz="1600" b="1"/>
              <a:t>app-</a:t>
            </a:r>
            <a:r>
              <a:rPr lang="en-US" sz="1600" b="1" err="1"/>
              <a:t>highlight.directive.ts</a:t>
            </a:r>
            <a:r>
              <a:rPr lang="en-US" sz="1600"/>
              <a:t> file in </a:t>
            </a:r>
            <a:r>
              <a:rPr lang="en-US" sz="1600" err="1"/>
              <a:t>src</a:t>
            </a:r>
            <a:r>
              <a:rPr lang="en-US" sz="1600"/>
              <a:t>/app folder and add the code snippet below.</a:t>
            </a:r>
          </a:p>
          <a:p>
            <a:endParaRPr lang="en-US" sz="1600"/>
          </a:p>
          <a:p>
            <a:endParaRPr lang="en-US" sz="1600"/>
          </a:p>
          <a:p>
            <a:endParaRPr lang="en-US" sz="1600"/>
          </a:p>
          <a:p>
            <a:endParaRPr lang="en-US" sz="1600"/>
          </a:p>
        </p:txBody>
      </p:sp>
      <p:pic>
        <p:nvPicPr>
          <p:cNvPr id="7" name="Picture 6">
            <a:extLst>
              <a:ext uri="{FF2B5EF4-FFF2-40B4-BE49-F238E27FC236}">
                <a16:creationId xmlns:a16="http://schemas.microsoft.com/office/drawing/2014/main" id="{15B8AAA5-0830-17AB-4678-794868279790}"/>
              </a:ext>
            </a:extLst>
          </p:cNvPr>
          <p:cNvPicPr>
            <a:picLocks noChangeAspect="1"/>
          </p:cNvPicPr>
          <p:nvPr/>
        </p:nvPicPr>
        <p:blipFill>
          <a:blip r:embed="rId2"/>
          <a:stretch>
            <a:fillRect/>
          </a:stretch>
        </p:blipFill>
        <p:spPr>
          <a:xfrm>
            <a:off x="2372834" y="2540396"/>
            <a:ext cx="7614349" cy="3511995"/>
          </a:xfrm>
          <a:prstGeom prst="rect">
            <a:avLst/>
          </a:prstGeom>
        </p:spPr>
      </p:pic>
    </p:spTree>
    <p:extLst>
      <p:ext uri="{BB962C8B-B14F-4D97-AF65-F5344CB8AC3E}">
        <p14:creationId xmlns:p14="http://schemas.microsoft.com/office/powerpoint/2010/main" val="753332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E0C29-B984-F522-7EBD-8DE06FBBD01A}"/>
              </a:ext>
            </a:extLst>
          </p:cNvPr>
          <p:cNvSpPr>
            <a:spLocks noGrp="1"/>
          </p:cNvSpPr>
          <p:nvPr>
            <p:ph type="title"/>
          </p:nvPr>
        </p:nvSpPr>
        <p:spPr/>
        <p:txBody>
          <a:bodyPr/>
          <a:lstStyle/>
          <a:p>
            <a:r>
              <a:rPr lang="en-US"/>
              <a:t>Creating a Custom Attribute Directive</a:t>
            </a:r>
          </a:p>
        </p:txBody>
      </p:sp>
      <p:sp>
        <p:nvSpPr>
          <p:cNvPr id="3" name="Content Placeholder 2">
            <a:extLst>
              <a:ext uri="{FF2B5EF4-FFF2-40B4-BE49-F238E27FC236}">
                <a16:creationId xmlns:a16="http://schemas.microsoft.com/office/drawing/2014/main" id="{AA52D97C-0B73-78EC-6C58-CA54B38EFFB2}"/>
              </a:ext>
            </a:extLst>
          </p:cNvPr>
          <p:cNvSpPr>
            <a:spLocks noGrp="1"/>
          </p:cNvSpPr>
          <p:nvPr>
            <p:ph idx="1"/>
          </p:nvPr>
        </p:nvSpPr>
        <p:spPr/>
        <p:txBody>
          <a:bodyPr>
            <a:normAutofit/>
          </a:bodyPr>
          <a:lstStyle/>
          <a:p>
            <a:r>
              <a:rPr lang="en-US" sz="1600"/>
              <a:t>Now to get </a:t>
            </a:r>
            <a:r>
              <a:rPr lang="en-US" sz="1600" err="1"/>
              <a:t>appHighlight</a:t>
            </a:r>
            <a:r>
              <a:rPr lang="en-US" sz="1600"/>
              <a:t> Directive to work, we need to add our Directive to the declarations array in the </a:t>
            </a:r>
            <a:r>
              <a:rPr lang="en-US" sz="1600" err="1"/>
              <a:t>app.module.ts</a:t>
            </a:r>
            <a:r>
              <a:rPr lang="en-US" sz="1600"/>
              <a:t> file.</a:t>
            </a:r>
          </a:p>
          <a:p>
            <a:endParaRPr lang="en-US" sz="1600"/>
          </a:p>
        </p:txBody>
      </p:sp>
      <p:pic>
        <p:nvPicPr>
          <p:cNvPr id="5" name="Picture 4">
            <a:extLst>
              <a:ext uri="{FF2B5EF4-FFF2-40B4-BE49-F238E27FC236}">
                <a16:creationId xmlns:a16="http://schemas.microsoft.com/office/drawing/2014/main" id="{646FF8E8-14BB-B439-C015-69BA4B55B20F}"/>
              </a:ext>
            </a:extLst>
          </p:cNvPr>
          <p:cNvPicPr>
            <a:picLocks noChangeAspect="1"/>
          </p:cNvPicPr>
          <p:nvPr/>
        </p:nvPicPr>
        <p:blipFill>
          <a:blip r:embed="rId2"/>
          <a:stretch>
            <a:fillRect/>
          </a:stretch>
        </p:blipFill>
        <p:spPr>
          <a:xfrm>
            <a:off x="1094659" y="2605252"/>
            <a:ext cx="6512203" cy="3571711"/>
          </a:xfrm>
          <a:prstGeom prst="rect">
            <a:avLst/>
          </a:prstGeom>
        </p:spPr>
      </p:pic>
    </p:spTree>
    <p:extLst>
      <p:ext uri="{BB962C8B-B14F-4D97-AF65-F5344CB8AC3E}">
        <p14:creationId xmlns:p14="http://schemas.microsoft.com/office/powerpoint/2010/main" val="625029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15808-270A-14B5-1E41-D0CE0B1F3A1C}"/>
              </a:ext>
            </a:extLst>
          </p:cNvPr>
          <p:cNvSpPr>
            <a:spLocks noGrp="1"/>
          </p:cNvSpPr>
          <p:nvPr>
            <p:ph type="title"/>
          </p:nvPr>
        </p:nvSpPr>
        <p:spPr/>
        <p:txBody>
          <a:bodyPr/>
          <a:lstStyle/>
          <a:p>
            <a:r>
              <a:rPr lang="en-US"/>
              <a:t>Creating a Custom Attribute Directive</a:t>
            </a:r>
          </a:p>
        </p:txBody>
      </p:sp>
      <p:sp>
        <p:nvSpPr>
          <p:cNvPr id="3" name="Content Placeholder 2">
            <a:extLst>
              <a:ext uri="{FF2B5EF4-FFF2-40B4-BE49-F238E27FC236}">
                <a16:creationId xmlns:a16="http://schemas.microsoft.com/office/drawing/2014/main" id="{B4B292D3-4657-548E-E879-9FAA56C14B3F}"/>
              </a:ext>
            </a:extLst>
          </p:cNvPr>
          <p:cNvSpPr>
            <a:spLocks noGrp="1"/>
          </p:cNvSpPr>
          <p:nvPr>
            <p:ph idx="1"/>
          </p:nvPr>
        </p:nvSpPr>
        <p:spPr/>
        <p:txBody>
          <a:bodyPr>
            <a:normAutofit/>
          </a:bodyPr>
          <a:lstStyle/>
          <a:p>
            <a:r>
              <a:rPr lang="en-US" sz="1600"/>
              <a:t>Now we are going to use our newly created custom directive. I am adding the </a:t>
            </a:r>
            <a:r>
              <a:rPr lang="en-US" sz="1600" err="1"/>
              <a:t>appHightlight</a:t>
            </a:r>
            <a:r>
              <a:rPr lang="en-US" sz="1600"/>
              <a:t> directive in the app.component.html but you can use it anywhere in the application.</a:t>
            </a:r>
          </a:p>
          <a:p>
            <a:endParaRPr lang="en-US" sz="1600"/>
          </a:p>
          <a:p>
            <a:pPr lvl="1"/>
            <a:endParaRPr lang="en-US" sz="1200"/>
          </a:p>
        </p:txBody>
      </p:sp>
      <p:pic>
        <p:nvPicPr>
          <p:cNvPr id="5" name="Picture 4">
            <a:extLst>
              <a:ext uri="{FF2B5EF4-FFF2-40B4-BE49-F238E27FC236}">
                <a16:creationId xmlns:a16="http://schemas.microsoft.com/office/drawing/2014/main" id="{334D6485-18C2-2812-5676-309F8091B9CE}"/>
              </a:ext>
            </a:extLst>
          </p:cNvPr>
          <p:cNvPicPr>
            <a:picLocks noChangeAspect="1"/>
          </p:cNvPicPr>
          <p:nvPr/>
        </p:nvPicPr>
        <p:blipFill>
          <a:blip r:embed="rId2"/>
          <a:stretch>
            <a:fillRect/>
          </a:stretch>
        </p:blipFill>
        <p:spPr>
          <a:xfrm>
            <a:off x="838200" y="2409372"/>
            <a:ext cx="10153318" cy="1135048"/>
          </a:xfrm>
          <a:prstGeom prst="rect">
            <a:avLst/>
          </a:prstGeom>
        </p:spPr>
      </p:pic>
    </p:spTree>
    <p:extLst>
      <p:ext uri="{BB962C8B-B14F-4D97-AF65-F5344CB8AC3E}">
        <p14:creationId xmlns:p14="http://schemas.microsoft.com/office/powerpoint/2010/main" val="2417194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64041-42E6-306C-FBC5-BC90A29B69ED}"/>
              </a:ext>
            </a:extLst>
          </p:cNvPr>
          <p:cNvSpPr>
            <a:spLocks noGrp="1"/>
          </p:cNvSpPr>
          <p:nvPr>
            <p:ph type="title"/>
          </p:nvPr>
        </p:nvSpPr>
        <p:spPr/>
        <p:txBody>
          <a:bodyPr/>
          <a:lstStyle/>
          <a:p>
            <a:r>
              <a:rPr lang="en-US" dirty="0"/>
              <a:t>Pipes</a:t>
            </a:r>
          </a:p>
        </p:txBody>
      </p:sp>
      <p:sp>
        <p:nvSpPr>
          <p:cNvPr id="3" name="Content Placeholder 2">
            <a:extLst>
              <a:ext uri="{FF2B5EF4-FFF2-40B4-BE49-F238E27FC236}">
                <a16:creationId xmlns:a16="http://schemas.microsoft.com/office/drawing/2014/main" id="{1C536B40-0438-F71D-FFAB-BB2E48396C0A}"/>
              </a:ext>
            </a:extLst>
          </p:cNvPr>
          <p:cNvSpPr>
            <a:spLocks noGrp="1"/>
          </p:cNvSpPr>
          <p:nvPr>
            <p:ph idx="1"/>
          </p:nvPr>
        </p:nvSpPr>
        <p:spPr/>
        <p:txBody>
          <a:bodyPr vert="horz" lIns="91440" tIns="45720" rIns="91440" bIns="45720" rtlCol="0" anchor="t">
            <a:normAutofit/>
          </a:bodyPr>
          <a:lstStyle/>
          <a:p>
            <a:r>
              <a:rPr lang="en-US" sz="1600" dirty="0"/>
              <a:t>Pipes in Angular are used to transform data without directly impacting the properties holding the data.</a:t>
            </a:r>
          </a:p>
          <a:p>
            <a:r>
              <a:rPr lang="en-US" sz="1600" dirty="0"/>
              <a:t>We can transform strings, currency amounts, dates, and other data for display. Pipes are simple functions to use in template expressions to accept an input value and return a transformed value.</a:t>
            </a:r>
          </a:p>
          <a:p>
            <a:r>
              <a:rPr lang="en-US" sz="1600" dirty="0"/>
              <a:t>We can use built-in pipes and can also create custom pipes as well.</a:t>
            </a:r>
          </a:p>
          <a:p>
            <a:endParaRPr lang="en-US" sz="1600" dirty="0"/>
          </a:p>
          <a:p>
            <a:endParaRPr lang="en-US" sz="1600" dirty="0"/>
          </a:p>
          <a:p>
            <a:r>
              <a:rPr lang="en-US" sz="1600" dirty="0"/>
              <a:t>Pipes transforms the way data is displayed</a:t>
            </a:r>
          </a:p>
          <a:p>
            <a:endParaRPr lang="en-US" sz="1600" dirty="0"/>
          </a:p>
          <a:p>
            <a:endParaRPr lang="en-US" sz="1600" dirty="0"/>
          </a:p>
          <a:p>
            <a:r>
              <a:rPr lang="en-US" sz="1600" dirty="0"/>
              <a:t>| (symbol)</a:t>
            </a:r>
          </a:p>
        </p:txBody>
      </p:sp>
    </p:spTree>
    <p:extLst>
      <p:ext uri="{BB962C8B-B14F-4D97-AF65-F5344CB8AC3E}">
        <p14:creationId xmlns:p14="http://schemas.microsoft.com/office/powerpoint/2010/main" val="2108399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60510-EC4A-861E-9E8A-3924F079CF67}"/>
              </a:ext>
            </a:extLst>
          </p:cNvPr>
          <p:cNvSpPr>
            <a:spLocks noGrp="1"/>
          </p:cNvSpPr>
          <p:nvPr>
            <p:ph type="title"/>
          </p:nvPr>
        </p:nvSpPr>
        <p:spPr/>
        <p:txBody>
          <a:bodyPr/>
          <a:lstStyle/>
          <a:p>
            <a:r>
              <a:rPr lang="en-US"/>
              <a:t>Built-in pipes</a:t>
            </a:r>
          </a:p>
        </p:txBody>
      </p:sp>
      <p:sp>
        <p:nvSpPr>
          <p:cNvPr id="3" name="Content Placeholder 2">
            <a:extLst>
              <a:ext uri="{FF2B5EF4-FFF2-40B4-BE49-F238E27FC236}">
                <a16:creationId xmlns:a16="http://schemas.microsoft.com/office/drawing/2014/main" id="{49D6DDF1-BBCC-E1BD-0FA2-BC9E82BE79A5}"/>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sz="1600" dirty="0"/>
              <a:t>Angular provides built-in pipes for typical data transformations, including transformations for internationalization (i18n), which use locale information to format data. The following are commonly used built-in pipes for data formatting:</a:t>
            </a:r>
          </a:p>
          <a:p>
            <a:endParaRPr lang="en-US" sz="1600"/>
          </a:p>
          <a:p>
            <a:pPr lvl="1"/>
            <a:r>
              <a:rPr lang="en-US" sz="1600" b="1" dirty="0" err="1"/>
              <a:t>DatePipe</a:t>
            </a:r>
            <a:r>
              <a:rPr lang="en-US" sz="1600" dirty="0"/>
              <a:t>: Formats a date value according to locale rules.</a:t>
            </a:r>
          </a:p>
          <a:p>
            <a:pPr lvl="1"/>
            <a:r>
              <a:rPr lang="en-US" sz="1600" b="1" dirty="0" err="1"/>
              <a:t>UpperCasePipe</a:t>
            </a:r>
            <a:r>
              <a:rPr lang="en-US" sz="1600" dirty="0"/>
              <a:t>: Transforms text to all upper case.</a:t>
            </a:r>
          </a:p>
          <a:p>
            <a:pPr lvl="1"/>
            <a:r>
              <a:rPr lang="en-US" sz="1600" b="1" dirty="0" err="1"/>
              <a:t>LowerCasePipe</a:t>
            </a:r>
            <a:r>
              <a:rPr lang="en-US" sz="1600" dirty="0"/>
              <a:t>: Transforms text to all lower case.</a:t>
            </a:r>
          </a:p>
          <a:p>
            <a:pPr lvl="1"/>
            <a:r>
              <a:rPr lang="en-US" sz="1600" b="1" dirty="0" err="1"/>
              <a:t>CurrencyPipe</a:t>
            </a:r>
            <a:r>
              <a:rPr lang="en-US" sz="1600" dirty="0"/>
              <a:t>: Transforms a number to a currency string, formatted according to locale rules.</a:t>
            </a:r>
          </a:p>
          <a:p>
            <a:pPr lvl="1"/>
            <a:r>
              <a:rPr lang="en-US" sz="1600" b="1" dirty="0" err="1"/>
              <a:t>DecimalPipe</a:t>
            </a:r>
            <a:r>
              <a:rPr lang="en-US" sz="1600" dirty="0"/>
              <a:t>: Transforms a number into a string with a decimal point, formatted according to locale rules.</a:t>
            </a:r>
          </a:p>
          <a:p>
            <a:pPr lvl="1"/>
            <a:r>
              <a:rPr lang="en-US" sz="1600" b="1" dirty="0" err="1"/>
              <a:t>PercentPipe</a:t>
            </a:r>
            <a:r>
              <a:rPr lang="en-US" sz="1600" dirty="0"/>
              <a:t>: Transforms a number to a percentage string, formatted according to locale rules.</a:t>
            </a:r>
          </a:p>
          <a:p>
            <a:pPr lvl="1"/>
            <a:r>
              <a:rPr lang="en-US" sz="1600" err="1"/>
              <a:t>TranslatePipe</a:t>
            </a:r>
            <a:endParaRPr lang="en-US" sz="1600" dirty="0" err="1"/>
          </a:p>
          <a:p>
            <a:pPr lvl="1"/>
            <a:endParaRPr lang="en-US" sz="1600" dirty="0"/>
          </a:p>
          <a:p>
            <a:pPr lvl="1"/>
            <a:r>
              <a:rPr lang="en-US" sz="1600" dirty="0"/>
              <a:t>Var x = 2 | 3</a:t>
            </a:r>
          </a:p>
          <a:p>
            <a:pPr lvl="1"/>
            <a:r>
              <a:rPr lang="en-US" sz="1600" dirty="0"/>
              <a:t>{{ x | date }}</a:t>
            </a:r>
            <a:br>
              <a:rPr lang="en-US" sz="1600" dirty="0"/>
            </a:br>
            <a:r>
              <a:rPr lang="en-US" sz="1600" dirty="0"/>
              <a:t>||</a:t>
            </a:r>
            <a:br>
              <a:rPr lang="en-US" sz="1600" dirty="0"/>
            </a:br>
            <a:br>
              <a:rPr lang="en-US" sz="1600" dirty="0"/>
            </a:br>
            <a:br>
              <a:rPr lang="en-US" sz="1600" dirty="0"/>
            </a:br>
            <a:br>
              <a:rPr lang="en-US" sz="1600" dirty="0"/>
            </a:br>
            <a:r>
              <a:rPr lang="en-US" sz="1600" dirty="0">
                <a:ea typeface="+mn-lt"/>
                <a:cs typeface="+mn-lt"/>
              </a:rPr>
              <a:t>https://angular.dev/guide/templates/pipes</a:t>
            </a:r>
            <a:endParaRPr lang="en-US" sz="1600" dirty="0"/>
          </a:p>
        </p:txBody>
      </p:sp>
    </p:spTree>
    <p:extLst>
      <p:ext uri="{BB962C8B-B14F-4D97-AF65-F5344CB8AC3E}">
        <p14:creationId xmlns:p14="http://schemas.microsoft.com/office/powerpoint/2010/main" val="503733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F758C-E542-452A-FEC6-FEF5C06E403B}"/>
              </a:ext>
            </a:extLst>
          </p:cNvPr>
          <p:cNvSpPr>
            <a:spLocks noGrp="1"/>
          </p:cNvSpPr>
          <p:nvPr>
            <p:ph type="title"/>
          </p:nvPr>
        </p:nvSpPr>
        <p:spPr>
          <a:xfrm>
            <a:off x="838200" y="380892"/>
            <a:ext cx="10515600" cy="971002"/>
          </a:xfrm>
        </p:spPr>
        <p:txBody>
          <a:bodyPr/>
          <a:lstStyle/>
          <a:p>
            <a:r>
              <a:rPr lang="en-US"/>
              <a:t>Pipes</a:t>
            </a:r>
          </a:p>
        </p:txBody>
      </p:sp>
      <p:sp>
        <p:nvSpPr>
          <p:cNvPr id="9" name="Content Placeholder 8">
            <a:extLst>
              <a:ext uri="{FF2B5EF4-FFF2-40B4-BE49-F238E27FC236}">
                <a16:creationId xmlns:a16="http://schemas.microsoft.com/office/drawing/2014/main" id="{6F12644E-342E-0FE0-B4AB-6BCE06F81FF5}"/>
              </a:ext>
            </a:extLst>
          </p:cNvPr>
          <p:cNvSpPr>
            <a:spLocks noGrp="1"/>
          </p:cNvSpPr>
          <p:nvPr>
            <p:ph idx="1"/>
          </p:nvPr>
        </p:nvSpPr>
        <p:spPr>
          <a:xfrm>
            <a:off x="838200" y="1351894"/>
            <a:ext cx="10515600" cy="4825069"/>
          </a:xfrm>
        </p:spPr>
        <p:txBody>
          <a:bodyPr vert="horz" lIns="91440" tIns="45720" rIns="91440" bIns="45720" rtlCol="0" anchor="t">
            <a:normAutofit/>
          </a:bodyPr>
          <a:lstStyle/>
          <a:p>
            <a:pPr marL="0" indent="0">
              <a:buNone/>
            </a:pPr>
            <a:r>
              <a:rPr lang="en-US" sz="1600" dirty="0"/>
              <a:t>Let’s understand them with an example:</a:t>
            </a:r>
          </a:p>
          <a:p>
            <a:endParaRPr lang="en-US" sz="1600"/>
          </a:p>
          <a:p>
            <a:endParaRPr lang="en-US" sz="1600"/>
          </a:p>
          <a:p>
            <a:pPr marL="0" indent="0">
              <a:buNone/>
            </a:pPr>
            <a:endParaRPr lang="en-US" sz="1600"/>
          </a:p>
          <a:p>
            <a:pPr marL="0" indent="0">
              <a:buNone/>
            </a:pPr>
            <a:r>
              <a:rPr lang="en-US" sz="1600" b="0" i="0" dirty="0">
                <a:solidFill>
                  <a:srgbClr val="242424"/>
                </a:solidFill>
                <a:effectLst/>
                <a:highlight>
                  <a:srgbClr val="FFFFFF"/>
                </a:highlight>
              </a:rPr>
              <a:t>All we have to do is write the </a:t>
            </a:r>
            <a:r>
              <a:rPr lang="en-US" sz="1600" b="1" i="0" dirty="0">
                <a:solidFill>
                  <a:srgbClr val="242424"/>
                </a:solidFill>
                <a:effectLst/>
                <a:highlight>
                  <a:srgbClr val="FFFFFF"/>
                </a:highlight>
              </a:rPr>
              <a:t>pipe symbol | followed by name of the pipe</a:t>
            </a:r>
            <a:r>
              <a:rPr lang="en-US" sz="1600" b="0" i="0" dirty="0">
                <a:solidFill>
                  <a:srgbClr val="242424"/>
                </a:solidFill>
                <a:effectLst/>
                <a:highlight>
                  <a:srgbClr val="FFFFFF"/>
                </a:highlight>
              </a:rPr>
              <a:t> being used like uppercase or lowercase.</a:t>
            </a:r>
          </a:p>
          <a:p>
            <a:pPr marL="0" indent="0">
              <a:buNone/>
            </a:pPr>
            <a:endParaRPr lang="en-US" sz="1600"/>
          </a:p>
          <a:p>
            <a:pPr marL="0" indent="0">
              <a:buNone/>
            </a:pPr>
            <a:r>
              <a:rPr lang="en-US" sz="1600" b="1" u="sng" dirty="0"/>
              <a:t>Chaining multiple pipes</a:t>
            </a:r>
          </a:p>
          <a:p>
            <a:pPr marL="0" indent="0">
              <a:buNone/>
            </a:pPr>
            <a:r>
              <a:rPr lang="en-US" sz="1600" dirty="0"/>
              <a:t>To chain multiple pipes together, we just have to use a pipe operator (|) between different pipe names, see the below code for example.</a:t>
            </a:r>
          </a:p>
          <a:p>
            <a:endParaRPr lang="en-US" sz="1600"/>
          </a:p>
          <a:p>
            <a:endParaRPr lang="en-US" sz="1600"/>
          </a:p>
          <a:p>
            <a:endParaRPr lang="en-US" sz="1600"/>
          </a:p>
          <a:p>
            <a:pPr marL="0" indent="0">
              <a:buNone/>
            </a:pPr>
            <a:r>
              <a:rPr lang="en-US" sz="1600" dirty="0"/>
              <a:t>It will output formatted date followed by everything in uppercase like: SATURDAY, MAY 28, 2022</a:t>
            </a:r>
          </a:p>
          <a:p>
            <a:endParaRPr lang="en-US" sz="1600"/>
          </a:p>
        </p:txBody>
      </p:sp>
      <p:pic>
        <p:nvPicPr>
          <p:cNvPr id="11" name="Picture 10">
            <a:extLst>
              <a:ext uri="{FF2B5EF4-FFF2-40B4-BE49-F238E27FC236}">
                <a16:creationId xmlns:a16="http://schemas.microsoft.com/office/drawing/2014/main" id="{5366766F-0D3D-D051-B73D-7E3B82211B3E}"/>
              </a:ext>
            </a:extLst>
          </p:cNvPr>
          <p:cNvPicPr>
            <a:picLocks noChangeAspect="1"/>
          </p:cNvPicPr>
          <p:nvPr/>
        </p:nvPicPr>
        <p:blipFill>
          <a:blip r:embed="rId2"/>
          <a:stretch>
            <a:fillRect/>
          </a:stretch>
        </p:blipFill>
        <p:spPr>
          <a:xfrm>
            <a:off x="983170" y="1657173"/>
            <a:ext cx="9086702" cy="1019024"/>
          </a:xfrm>
          <a:prstGeom prst="rect">
            <a:avLst/>
          </a:prstGeom>
        </p:spPr>
      </p:pic>
      <p:pic>
        <p:nvPicPr>
          <p:cNvPr id="13" name="Picture 12">
            <a:extLst>
              <a:ext uri="{FF2B5EF4-FFF2-40B4-BE49-F238E27FC236}">
                <a16:creationId xmlns:a16="http://schemas.microsoft.com/office/drawing/2014/main" id="{74C710FE-E1F4-2558-66C2-35BAE47DAAF3}"/>
              </a:ext>
            </a:extLst>
          </p:cNvPr>
          <p:cNvPicPr>
            <a:picLocks noChangeAspect="1"/>
          </p:cNvPicPr>
          <p:nvPr/>
        </p:nvPicPr>
        <p:blipFill>
          <a:blip r:embed="rId3"/>
          <a:stretch>
            <a:fillRect/>
          </a:stretch>
        </p:blipFill>
        <p:spPr>
          <a:xfrm>
            <a:off x="983170" y="4368853"/>
            <a:ext cx="8522576" cy="872123"/>
          </a:xfrm>
          <a:prstGeom prst="rect">
            <a:avLst/>
          </a:prstGeom>
        </p:spPr>
      </p:pic>
    </p:spTree>
    <p:extLst>
      <p:ext uri="{BB962C8B-B14F-4D97-AF65-F5344CB8AC3E}">
        <p14:creationId xmlns:p14="http://schemas.microsoft.com/office/powerpoint/2010/main" val="964902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8B8CE-1021-73E9-A801-226BBF9A64F3}"/>
              </a:ext>
            </a:extLst>
          </p:cNvPr>
          <p:cNvSpPr>
            <a:spLocks noGrp="1"/>
          </p:cNvSpPr>
          <p:nvPr>
            <p:ph type="title"/>
          </p:nvPr>
        </p:nvSpPr>
        <p:spPr/>
        <p:txBody>
          <a:bodyPr/>
          <a:lstStyle/>
          <a:p>
            <a:r>
              <a:rPr lang="en-US"/>
              <a:t>Creating Custom Pipes</a:t>
            </a:r>
          </a:p>
        </p:txBody>
      </p:sp>
      <p:sp>
        <p:nvSpPr>
          <p:cNvPr id="3" name="Content Placeholder 2">
            <a:extLst>
              <a:ext uri="{FF2B5EF4-FFF2-40B4-BE49-F238E27FC236}">
                <a16:creationId xmlns:a16="http://schemas.microsoft.com/office/drawing/2014/main" id="{8DF25292-B484-ACF9-3C4E-0A2489AA5EDB}"/>
              </a:ext>
            </a:extLst>
          </p:cNvPr>
          <p:cNvSpPr>
            <a:spLocks noGrp="1"/>
          </p:cNvSpPr>
          <p:nvPr>
            <p:ph idx="1"/>
          </p:nvPr>
        </p:nvSpPr>
        <p:spPr>
          <a:xfrm>
            <a:off x="838200" y="1458310"/>
            <a:ext cx="10515600" cy="4718653"/>
          </a:xfrm>
        </p:spPr>
        <p:txBody>
          <a:bodyPr>
            <a:normAutofit/>
          </a:bodyPr>
          <a:lstStyle/>
          <a:p>
            <a:r>
              <a:rPr lang="en-US" sz="1600"/>
              <a:t>We can also create our own pipes with a custom transform logic to it. Use command </a:t>
            </a:r>
            <a:r>
              <a:rPr lang="en-US" sz="1600" b="1"/>
              <a:t>ng g p &lt;</a:t>
            </a:r>
            <a:r>
              <a:rPr lang="en-US" sz="1600" b="1" err="1"/>
              <a:t>name_of_pipe</a:t>
            </a:r>
            <a:r>
              <a:rPr lang="en-US" sz="1600" b="1"/>
              <a:t>&gt;</a:t>
            </a:r>
            <a:r>
              <a:rPr lang="en-US" sz="1600"/>
              <a:t>, let say we create custom pipe which will trim the data up to a certain limit and then add … at the end if the value goes beyond that limit.</a:t>
            </a:r>
          </a:p>
          <a:p>
            <a:r>
              <a:rPr lang="en-US" sz="1600" b="0" i="0">
                <a:solidFill>
                  <a:srgbClr val="242424"/>
                </a:solidFill>
                <a:effectLst/>
                <a:highlight>
                  <a:srgbClr val="FFFFFF"/>
                </a:highlight>
                <a:latin typeface="source-serif-pro"/>
              </a:rPr>
              <a:t>Start with running </a:t>
            </a:r>
            <a:r>
              <a:rPr lang="en-US" sz="1600" b="1" i="0">
                <a:solidFill>
                  <a:srgbClr val="242424"/>
                </a:solidFill>
                <a:effectLst/>
                <a:highlight>
                  <a:srgbClr val="FFFFFF"/>
                </a:highlight>
                <a:latin typeface="source-serif-pro"/>
              </a:rPr>
              <a:t>ng g p trim</a:t>
            </a:r>
            <a:r>
              <a:rPr lang="en-US" sz="1600" b="0" i="0">
                <a:solidFill>
                  <a:srgbClr val="242424"/>
                </a:solidFill>
                <a:effectLst/>
                <a:highlight>
                  <a:srgbClr val="FFFFFF"/>
                </a:highlight>
                <a:latin typeface="source-serif-pro"/>
              </a:rPr>
              <a:t> in your terminal:</a:t>
            </a:r>
          </a:p>
          <a:p>
            <a:r>
              <a:rPr lang="en-US" sz="1600"/>
              <a:t>This will create a </a:t>
            </a:r>
            <a:r>
              <a:rPr lang="en-US" sz="1600" b="1" err="1"/>
              <a:t>trim.pipe.ts</a:t>
            </a:r>
            <a:r>
              <a:rPr lang="en-US" sz="1600"/>
              <a:t> and also declare it in the </a:t>
            </a:r>
            <a:r>
              <a:rPr lang="en-US" sz="1600" err="1"/>
              <a:t>app.module.ts</a:t>
            </a:r>
            <a:r>
              <a:rPr lang="en-US" sz="1600"/>
              <a:t> declarations array. It will take the value and considering the limit argument and value length it will decide whether to return the value directly or return the sliced value followed by … characters</a:t>
            </a:r>
          </a:p>
          <a:p>
            <a:endParaRPr lang="en-US" sz="1600"/>
          </a:p>
          <a:p>
            <a:endParaRPr lang="en-US" sz="1600"/>
          </a:p>
        </p:txBody>
      </p:sp>
      <p:pic>
        <p:nvPicPr>
          <p:cNvPr id="5" name="Picture 4">
            <a:extLst>
              <a:ext uri="{FF2B5EF4-FFF2-40B4-BE49-F238E27FC236}">
                <a16:creationId xmlns:a16="http://schemas.microsoft.com/office/drawing/2014/main" id="{082EB027-9360-1EB4-346F-751823198699}"/>
              </a:ext>
            </a:extLst>
          </p:cNvPr>
          <p:cNvPicPr>
            <a:picLocks noChangeAspect="1"/>
          </p:cNvPicPr>
          <p:nvPr/>
        </p:nvPicPr>
        <p:blipFill>
          <a:blip r:embed="rId2"/>
          <a:stretch>
            <a:fillRect/>
          </a:stretch>
        </p:blipFill>
        <p:spPr>
          <a:xfrm>
            <a:off x="2666210" y="3302877"/>
            <a:ext cx="5981781" cy="3348440"/>
          </a:xfrm>
          <a:prstGeom prst="rect">
            <a:avLst/>
          </a:prstGeom>
        </p:spPr>
      </p:pic>
      <p:sp>
        <p:nvSpPr>
          <p:cNvPr id="4" name="TextBox 3">
            <a:extLst>
              <a:ext uri="{FF2B5EF4-FFF2-40B4-BE49-F238E27FC236}">
                <a16:creationId xmlns:a16="http://schemas.microsoft.com/office/drawing/2014/main" id="{2CCDA915-D65A-A321-F98C-0BD0315A5110}"/>
              </a:ext>
            </a:extLst>
          </p:cNvPr>
          <p:cNvSpPr txBox="1"/>
          <p:nvPr/>
        </p:nvSpPr>
        <p:spPr>
          <a:xfrm>
            <a:off x="9256510" y="4674281"/>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"3.2222222" 3</a:t>
            </a:r>
            <a:br>
              <a:rPr lang="en-US" sz="2400" dirty="0"/>
            </a:br>
            <a:br>
              <a:rPr lang="en-US" sz="2400" dirty="0"/>
            </a:br>
            <a:r>
              <a:rPr lang="en-US" sz="2400" dirty="0"/>
              <a:t>3.22</a:t>
            </a:r>
            <a:endParaRPr lang="en-US" dirty="0"/>
          </a:p>
        </p:txBody>
      </p:sp>
    </p:spTree>
    <p:extLst>
      <p:ext uri="{BB962C8B-B14F-4D97-AF65-F5344CB8AC3E}">
        <p14:creationId xmlns:p14="http://schemas.microsoft.com/office/powerpoint/2010/main" val="369575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8C78A2-EEA7-6BF0-274D-9D9042DFE661}"/>
              </a:ext>
            </a:extLst>
          </p:cNvPr>
          <p:cNvSpPr>
            <a:spLocks noGrp="1"/>
          </p:cNvSpPr>
          <p:nvPr>
            <p:ph type="ctrTitle"/>
          </p:nvPr>
        </p:nvSpPr>
        <p:spPr/>
        <p:txBody>
          <a:bodyPr/>
          <a:lstStyle/>
          <a:p>
            <a:r>
              <a:rPr lang="en-US"/>
              <a:t>Thank you </a:t>
            </a:r>
          </a:p>
        </p:txBody>
      </p:sp>
      <p:sp>
        <p:nvSpPr>
          <p:cNvPr id="7" name="Subtitle 6">
            <a:extLst>
              <a:ext uri="{FF2B5EF4-FFF2-40B4-BE49-F238E27FC236}">
                <a16:creationId xmlns:a16="http://schemas.microsoft.com/office/drawing/2014/main" id="{BFD8C507-CE94-DDCA-B4EC-8CA0DE1BFDE7}"/>
              </a:ext>
            </a:extLst>
          </p:cNvPr>
          <p:cNvSpPr>
            <a:spLocks noGrp="1"/>
          </p:cNvSpPr>
          <p:nvPr>
            <p:ph type="subTitle" idx="1"/>
          </p:nvPr>
        </p:nvSpPr>
        <p:spPr/>
        <p:txBody>
          <a:bodyPr vert="horz" lIns="91440" tIns="45720" rIns="91440" bIns="45720" rtlCol="0" anchor="t">
            <a:normAutofit/>
          </a:bodyPr>
          <a:lstStyle/>
          <a:p>
            <a:endParaRPr lang="en-US"/>
          </a:p>
        </p:txBody>
      </p:sp>
    </p:spTree>
    <p:extLst>
      <p:ext uri="{BB962C8B-B14F-4D97-AF65-F5344CB8AC3E}">
        <p14:creationId xmlns:p14="http://schemas.microsoft.com/office/powerpoint/2010/main" val="31450265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17</Slides>
  <Notes>0</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Angular – Week 6 </vt:lpstr>
      <vt:lpstr>Directives</vt:lpstr>
      <vt:lpstr>Component Directives</vt:lpstr>
      <vt:lpstr>Attribute Directives</vt:lpstr>
      <vt:lpstr>Attribute Directives</vt:lpstr>
      <vt:lpstr>Structural Directives</vt:lpstr>
      <vt:lpstr>Structural Directives</vt:lpstr>
      <vt:lpstr>Conditional Rendering (Angular 17+)</vt:lpstr>
      <vt:lpstr>Structural Directives</vt:lpstr>
      <vt:lpstr>Creating a Custom Attribute Directive</vt:lpstr>
      <vt:lpstr>Creating a Custom Attribute Directive</vt:lpstr>
      <vt:lpstr>Creating a Custom Attribute Directive</vt:lpstr>
      <vt:lpstr>Pipes</vt:lpstr>
      <vt:lpstr>Built-in pipes</vt:lpstr>
      <vt:lpstr>Pipes</vt:lpstr>
      <vt:lpstr>Creating Custom Pipes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Krupa Joseph (Ratings - Tech)</dc:creator>
  <cp:revision>51</cp:revision>
  <dcterms:created xsi:type="dcterms:W3CDTF">2024-09-27T04:36:01Z</dcterms:created>
  <dcterms:modified xsi:type="dcterms:W3CDTF">2025-07-31T12:58:14Z</dcterms:modified>
</cp:coreProperties>
</file>