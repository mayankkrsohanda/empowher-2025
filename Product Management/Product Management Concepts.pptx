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25" r:id="rId5"/>
    <p:sldId id="326" r:id="rId6"/>
    <p:sldId id="259" r:id="rId7"/>
    <p:sldId id="257" r:id="rId8"/>
    <p:sldId id="261" r:id="rId9"/>
    <p:sldId id="258" r:id="rId10"/>
    <p:sldId id="263" r:id="rId11"/>
    <p:sldId id="341" r:id="rId12"/>
    <p:sldId id="342" r:id="rId13"/>
    <p:sldId id="343" r:id="rId14"/>
    <p:sldId id="34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40" autoAdjust="0"/>
  </p:normalViewPr>
  <p:slideViewPr>
    <p:cSldViewPr snapToGrid="0">
      <p:cViewPr varScale="1">
        <p:scale>
          <a:sx n="78" d="100"/>
          <a:sy n="78" d="100"/>
        </p:scale>
        <p:origin x="806" y="6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8/11/2025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8/11/2025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/>
              <a:t>Product Management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4619" y="5631229"/>
            <a:ext cx="9144000" cy="78923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1" dirty="0"/>
              <a:t>Kanika Singh</a:t>
            </a:r>
          </a:p>
          <a:p>
            <a:r>
              <a:rPr lang="en-US" b="1" dirty="0"/>
              <a:t>                  Senior Product Analyst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92" y="1097280"/>
            <a:ext cx="8886395" cy="2286000"/>
          </a:xfrm>
        </p:spPr>
        <p:txBody>
          <a:bodyPr/>
          <a:lstStyle/>
          <a:p>
            <a:r>
              <a:rPr lang="en-US" i="1" dirty="0"/>
              <a:t>"What is Product Management?"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i="1" dirty="0"/>
            </a:br>
            <a:r>
              <a:rPr lang="en-US" sz="2000" b="1" i="1" dirty="0"/>
              <a:t>Turning ideas into real products people love!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60864F-17E6-0025-418F-9CCA785B5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42" y="1908521"/>
            <a:ext cx="4709652" cy="28109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030EBD-59FB-CA8C-374A-D4F3EB0AF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855" y="1886964"/>
            <a:ext cx="4138153" cy="281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672326" cy="2877410"/>
          </a:xfrm>
          <a:noFill/>
        </p:spPr>
        <p:txBody>
          <a:bodyPr anchor="ctr" anchorCtr="0">
            <a:noAutofit/>
          </a:bodyPr>
          <a:lstStyle/>
          <a:p>
            <a:pPr algn="l"/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latin typeface="Bahnschrift SemiBold Condensed" panose="020B0502040204020203" pitchFamily="34" charset="0"/>
              </a:rPr>
              <a:t>Product Management is the art and science of guiding a product from idea to launch and beyond.</a:t>
            </a:r>
            <a:br>
              <a:rPr lang="en-US" sz="2000" dirty="0">
                <a:latin typeface="Bahnschrift SemiBold Condensed" panose="020B0502040204020203" pitchFamily="34" charset="0"/>
              </a:rPr>
            </a:br>
            <a:br>
              <a:rPr lang="en-US" sz="2000" dirty="0">
                <a:latin typeface="Bahnschrift SemiBold Condensed" panose="020B0502040204020203" pitchFamily="34" charset="0"/>
              </a:rPr>
            </a:br>
            <a:r>
              <a:rPr lang="en-US" sz="2000" dirty="0">
                <a:latin typeface="Bahnschrift SemiBold Condensed" panose="020B0502040204020203" pitchFamily="34" charset="0"/>
              </a:rPr>
              <a:t>Product Managers are the "mini-CEO" of their products.</a:t>
            </a:r>
            <a:br>
              <a:rPr lang="en-US" sz="2000" dirty="0">
                <a:latin typeface="Bahnschrift SemiBold Condensed" panose="020B0502040204020203" pitchFamily="34" charset="0"/>
              </a:rPr>
            </a:br>
            <a:br>
              <a:rPr lang="en-US" sz="1600" dirty="0">
                <a:latin typeface="Bahnschrift SemiBold Condensed" panose="020B0502040204020203" pitchFamily="34" charset="0"/>
              </a:rPr>
            </a:br>
            <a:br>
              <a:rPr lang="en-US" sz="1600" dirty="0">
                <a:latin typeface="Bahnschrift SemiBold Condensed" panose="020B0502040204020203" pitchFamily="34" charset="0"/>
              </a:rPr>
            </a:br>
            <a:r>
              <a:rPr lang="en-US" sz="1600" dirty="0">
                <a:latin typeface="Bahnschrift SemiBold Condensed" panose="020B0502040204020203" pitchFamily="34" charset="0"/>
              </a:rPr>
              <a:t>Example: Think of a PM as the director of a movie – they don’t act,</a:t>
            </a:r>
            <a:br>
              <a:rPr lang="en-US" sz="1600" dirty="0">
                <a:latin typeface="Bahnschrift SemiBold Condensed" panose="020B0502040204020203" pitchFamily="34" charset="0"/>
              </a:rPr>
            </a:br>
            <a:r>
              <a:rPr lang="en-US" sz="1600" dirty="0">
                <a:latin typeface="Bahnschrift SemiBold Condensed" panose="020B0502040204020203" pitchFamily="34" charset="0"/>
              </a:rPr>
              <a:t>light, or write scripts, but make sure everything comes together.</a:t>
            </a:r>
            <a:br>
              <a:rPr lang="en-US" sz="1000" dirty="0"/>
            </a:br>
            <a:endParaRPr lang="en-US" sz="1000" dirty="0"/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1187245"/>
          </a:xfrm>
          <a:noFill/>
        </p:spPr>
        <p:txBody>
          <a:bodyPr anchor="b" anchorCtr="0"/>
          <a:lstStyle/>
          <a:p>
            <a:r>
              <a:rPr lang="en-US" sz="3200" dirty="0"/>
              <a:t>Key Responsibilities of a Product manager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9303" y="2928832"/>
            <a:ext cx="8431260" cy="2390419"/>
          </a:xfrm>
          <a:noFill/>
        </p:spPr>
        <p:txBody>
          <a:bodyPr>
            <a:normAutofit fontScale="25000" lnSpcReduction="20000"/>
          </a:bodyPr>
          <a:lstStyle/>
          <a:p>
            <a:pPr marL="1143000" indent="-1143000" algn="l">
              <a:buFont typeface="Wingdings" panose="05000000000000000000" pitchFamily="2" charset="2"/>
              <a:buChar char="Ø"/>
            </a:pPr>
            <a:r>
              <a:rPr lang="en-US" sz="8000" dirty="0">
                <a:latin typeface="Arial Narrow" panose="020B0606020202030204" pitchFamily="34" charset="0"/>
              </a:rPr>
              <a:t>Understanding customer needs</a:t>
            </a:r>
          </a:p>
          <a:p>
            <a:pPr marL="1143000" indent="-1143000" algn="l">
              <a:buFont typeface="Wingdings" panose="05000000000000000000" pitchFamily="2" charset="2"/>
              <a:buChar char="Ø"/>
            </a:pPr>
            <a:r>
              <a:rPr lang="en-US" sz="8000" dirty="0">
                <a:latin typeface="Arial Narrow" panose="020B0606020202030204" pitchFamily="34" charset="0"/>
              </a:rPr>
              <a:t>Defining the product vision</a:t>
            </a:r>
          </a:p>
          <a:p>
            <a:pPr marL="1143000" indent="-1143000" algn="l">
              <a:buFont typeface="Wingdings" panose="05000000000000000000" pitchFamily="2" charset="2"/>
              <a:buChar char="Ø"/>
            </a:pPr>
            <a:r>
              <a:rPr lang="en-US" sz="8000" dirty="0">
                <a:latin typeface="Arial Narrow" panose="020B0606020202030204" pitchFamily="34" charset="0"/>
              </a:rPr>
              <a:t>Prioritizing features</a:t>
            </a:r>
          </a:p>
          <a:p>
            <a:pPr marL="1143000" indent="-1143000" algn="l">
              <a:buFont typeface="Wingdings" panose="05000000000000000000" pitchFamily="2" charset="2"/>
              <a:buChar char="Ø"/>
            </a:pPr>
            <a:r>
              <a:rPr lang="en-US" sz="8000" dirty="0">
                <a:latin typeface="Arial Narrow" panose="020B0606020202030204" pitchFamily="34" charset="0"/>
              </a:rPr>
              <a:t>Working with design, engineering, and business teams</a:t>
            </a:r>
          </a:p>
          <a:p>
            <a:pPr marL="1143000" indent="-1143000" algn="l">
              <a:buFont typeface="Wingdings" panose="05000000000000000000" pitchFamily="2" charset="2"/>
              <a:buChar char="Ø"/>
            </a:pPr>
            <a:r>
              <a:rPr lang="en-US" sz="8000" dirty="0">
                <a:latin typeface="Arial Narrow" panose="020B0606020202030204" pitchFamily="34" charset="0"/>
              </a:rPr>
              <a:t>Example: Creating a new food delivery app for college students – PM decides which features matter most: speed, cost, variety.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  <a:noFill/>
        </p:spPr>
        <p:txBody>
          <a:bodyPr/>
          <a:lstStyle/>
          <a:p>
            <a:r>
              <a:rPr lang="en-US" dirty="0"/>
              <a:t>Skills of a Successful PRODUCT MANAGER</a:t>
            </a:r>
          </a:p>
        </p:txBody>
      </p:sp>
      <p:pic>
        <p:nvPicPr>
          <p:cNvPr id="16" name="Picture Placeholder 15" descr="Pipette over three glass jars">
            <a:extLst>
              <a:ext uri="{FF2B5EF4-FFF2-40B4-BE49-F238E27FC236}">
                <a16:creationId xmlns:a16="http://schemas.microsoft.com/office/drawing/2014/main" id="{363B2CE7-DE69-D368-9719-08D0C83ABC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1298448" y="1828800"/>
            <a:ext cx="3200400" cy="3200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2560321"/>
            <a:ext cx="6217920" cy="2743200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en-US" dirty="0"/>
              <a:t>Communication &amp; storytelling</a:t>
            </a:r>
          </a:p>
          <a:p>
            <a:r>
              <a:rPr lang="en-US" dirty="0"/>
              <a:t>Analytical thinking</a:t>
            </a:r>
          </a:p>
          <a:p>
            <a:r>
              <a:rPr lang="en-US" dirty="0"/>
              <a:t>Empathy for users</a:t>
            </a:r>
          </a:p>
          <a:p>
            <a:r>
              <a:rPr lang="en-US" dirty="0"/>
              <a:t>Leadership without authority</a:t>
            </a:r>
          </a:p>
          <a:p>
            <a:r>
              <a:rPr lang="en-US" dirty="0"/>
              <a:t>Example: Convincing your team why adding instant chat to the food delivery app will make students order more.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IN" sz="2800" i="1" dirty="0">
                <a:latin typeface="Arial Rounded MT Bold" panose="020F0704030504030204" pitchFamily="34" charset="0"/>
              </a:rPr>
              <a:t>Product Management</a:t>
            </a:r>
            <a:br>
              <a:rPr lang="en-IN" sz="2800" i="1" dirty="0">
                <a:latin typeface="Arial Rounded MT Bold" panose="020F0704030504030204" pitchFamily="34" charset="0"/>
              </a:rPr>
            </a:br>
            <a:br>
              <a:rPr lang="en-IN" sz="2800" i="1" dirty="0">
                <a:latin typeface="Arial Rounded MT Bold" panose="020F0704030504030204" pitchFamily="34" charset="0"/>
              </a:rPr>
            </a:br>
            <a:r>
              <a:rPr lang="en-IN" sz="2800" i="1" dirty="0">
                <a:latin typeface="Arial Rounded MT Bold" panose="020F0704030504030204" pitchFamily="34" charset="0"/>
              </a:rPr>
              <a:t> With</a:t>
            </a:r>
            <a:br>
              <a:rPr lang="en-IN" sz="2800" i="1" dirty="0">
                <a:latin typeface="Arial Rounded MT Bold" panose="020F0704030504030204" pitchFamily="34" charset="0"/>
              </a:rPr>
            </a:br>
            <a:br>
              <a:rPr lang="en-IN" sz="2800" i="1" dirty="0">
                <a:latin typeface="Arial Rounded MT Bold" panose="020F0704030504030204" pitchFamily="34" charset="0"/>
              </a:rPr>
            </a:br>
            <a:r>
              <a:rPr lang="en-IN" sz="2800" i="1" dirty="0">
                <a:latin typeface="Arial Rounded MT Bold" panose="020F0704030504030204" pitchFamily="34" charset="0"/>
              </a:rPr>
              <a:t>Agile Methodology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  <a:noFill/>
        </p:spPr>
        <p:txBody>
          <a:bodyPr/>
          <a:lstStyle/>
          <a:p>
            <a:r>
              <a:rPr lang="en-US" b="1" dirty="0"/>
              <a:t>PRODUCT + AGILE</a:t>
            </a:r>
          </a:p>
        </p:txBody>
      </p:sp>
      <p:pic>
        <p:nvPicPr>
          <p:cNvPr id="6" name="Picture Placeholder 17" descr="Scientist looking at a test tube">
            <a:extLst>
              <a:ext uri="{FF2B5EF4-FFF2-40B4-BE49-F238E27FC236}">
                <a16:creationId xmlns:a16="http://schemas.microsoft.com/office/drawing/2014/main" id="{23F775E2-246C-F1D2-C3A0-D4C55F65CC8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1280160" y="548640"/>
            <a:ext cx="3017520" cy="3017520"/>
          </a:xfr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7A916E9C-E41C-9A4C-4D76-33B390AAA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0D8B8CDC-26DD-6552-43AF-1B7413E73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9D9A58-8AC6-947A-9917-405EC8B2A68B}"/>
              </a:ext>
            </a:extLst>
          </p:cNvPr>
          <p:cNvSpPr txBox="1"/>
          <p:nvPr/>
        </p:nvSpPr>
        <p:spPr>
          <a:xfrm>
            <a:off x="7492181" y="1022555"/>
            <a:ext cx="341965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Agile = flexible way to build products in small steps (called sprints)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PM in Agile: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Sets priorities for each sprint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Collects feedback early and often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Adjusts the product as needed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Example: Testing a new payment option in one week before fully launching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5144B-3077-BFC8-D0C7-91C45100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5C44-FFD1-91E0-F2BC-E849DC53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  <a:noFill/>
        </p:spPr>
        <p:txBody>
          <a:bodyPr/>
          <a:lstStyle/>
          <a:p>
            <a:r>
              <a:rPr lang="en-US" b="1" dirty="0"/>
              <a:t>Why PM is Exciting for Students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Placeholder 17" descr="Scientist looking at a test tube">
            <a:extLst>
              <a:ext uri="{FF2B5EF4-FFF2-40B4-BE49-F238E27FC236}">
                <a16:creationId xmlns:a16="http://schemas.microsoft.com/office/drawing/2014/main" id="{C9542206-F1B0-2C22-09B7-BCF56F2701C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1280160" y="548640"/>
            <a:ext cx="3017520" cy="3017520"/>
          </a:xfr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F041E95E-5F11-7579-CE4F-B6B1B327A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DF4E91F0-B2BF-0F51-968B-9EF20448E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BBFFFF-3DCF-A0B3-7C94-08D17FDFD7B2}"/>
              </a:ext>
            </a:extLst>
          </p:cNvPr>
          <p:cNvSpPr txBox="1"/>
          <p:nvPr/>
        </p:nvSpPr>
        <p:spPr>
          <a:xfrm>
            <a:off x="7492181" y="1022555"/>
            <a:ext cx="4080387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You get to solve real problems</a:t>
            </a:r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You work with different types of people</a:t>
            </a:r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You see your ideas turn into something real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Every day is different!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967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5877-9FBD-D15D-0195-C32C50E3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5D0E-3E05-0385-48DC-CE2ACE57A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268124" cy="1828800"/>
          </a:xfrm>
          <a:noFill/>
        </p:spPr>
        <p:txBody>
          <a:bodyPr/>
          <a:lstStyle/>
          <a:p>
            <a:r>
              <a:rPr lang="en-US" sz="2000" b="1" dirty="0"/>
              <a:t>How can you start your PM Journey in College</a:t>
            </a:r>
          </a:p>
        </p:txBody>
      </p:sp>
      <p:pic>
        <p:nvPicPr>
          <p:cNvPr id="6" name="Picture Placeholder 17" descr="Scientist looking at a test tube">
            <a:extLst>
              <a:ext uri="{FF2B5EF4-FFF2-40B4-BE49-F238E27FC236}">
                <a16:creationId xmlns:a16="http://schemas.microsoft.com/office/drawing/2014/main" id="{BC109085-A3C8-ED90-A924-1E3C41D2164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1280160" y="548640"/>
            <a:ext cx="3017520" cy="3017520"/>
          </a:xfr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25115489-8B12-01CB-E54C-0CEC2774C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77E4448-D0F5-E68A-A53A-723DB3024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5F9CB5-5747-8697-8D3F-52B515DAE437}"/>
              </a:ext>
            </a:extLst>
          </p:cNvPr>
          <p:cNvSpPr txBox="1"/>
          <p:nvPr/>
        </p:nvSpPr>
        <p:spPr>
          <a:xfrm>
            <a:off x="7492181" y="1022555"/>
            <a:ext cx="341965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Join student clubs and lead projects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Take online courses on PM &amp; Agile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Build your own small product or app</a:t>
            </a:r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Network with PMs on LinkedIn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3704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DC455-1EBF-32B2-C946-D3B937AA4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93A12-CCBF-F798-8C72-F3C2D7FFB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268124" cy="1828800"/>
          </a:xfrm>
          <a:noFill/>
        </p:spPr>
        <p:txBody>
          <a:bodyPr/>
          <a:lstStyle/>
          <a:p>
            <a:r>
              <a:rPr lang="en-IN" sz="2000" b="1" dirty="0"/>
              <a:t>Key Takeaways</a:t>
            </a:r>
            <a:br>
              <a:rPr lang="en-IN" sz="2000" dirty="0"/>
            </a:br>
            <a:endParaRPr lang="en-US" sz="2000" b="1" dirty="0"/>
          </a:p>
        </p:txBody>
      </p:sp>
      <p:pic>
        <p:nvPicPr>
          <p:cNvPr id="6" name="Picture Placeholder 17" descr="Scientist looking at a test tube">
            <a:extLst>
              <a:ext uri="{FF2B5EF4-FFF2-40B4-BE49-F238E27FC236}">
                <a16:creationId xmlns:a16="http://schemas.microsoft.com/office/drawing/2014/main" id="{E897B83F-9600-B121-8397-2197AFFB0CA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1280160" y="548640"/>
            <a:ext cx="3017520" cy="3017520"/>
          </a:xfr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9927CD09-1303-8C82-24B5-AC94B2FDB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5EDE7E97-1394-BE7D-8D32-FF16BFB49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45D8CE-8B31-8905-643A-AC5E996BA44E}"/>
              </a:ext>
            </a:extLst>
          </p:cNvPr>
          <p:cNvSpPr txBox="1"/>
          <p:nvPr/>
        </p:nvSpPr>
        <p:spPr>
          <a:xfrm>
            <a:off x="7492181" y="1022555"/>
            <a:ext cx="341965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PM = bridge between ideas and reality</a:t>
            </a:r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Focus on user needs, not just tech</a:t>
            </a:r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Agile helps you adapt quickly</a:t>
            </a:r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You don’t need coding skills to start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808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{2B75DEB0-B40D-478B-8D27-610EFC50D11F}tf67061901_win32</Template>
  <TotalTime>120</TotalTime>
  <Words>347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Narrow</vt:lpstr>
      <vt:lpstr>Arial Rounded MT Bold</vt:lpstr>
      <vt:lpstr>Bahnschrift SemiBold Condensed</vt:lpstr>
      <vt:lpstr>Calibri</vt:lpstr>
      <vt:lpstr>Courier New</vt:lpstr>
      <vt:lpstr>Daytona Condensed Light</vt:lpstr>
      <vt:lpstr>Posterama</vt:lpstr>
      <vt:lpstr>Wingdings</vt:lpstr>
      <vt:lpstr>Custom</vt:lpstr>
      <vt:lpstr>Product Management</vt:lpstr>
      <vt:lpstr>"What is Product Management?"         Turning ideas into real products people love! </vt:lpstr>
      <vt:lpstr>  Product Management is the art and science of guiding a product from idea to launch and beyond.  Product Managers are the "mini-CEO" of their products.   Example: Think of a PM as the director of a movie – they don’t act, light, or write scripts, but make sure everything comes together. </vt:lpstr>
      <vt:lpstr>Key Responsibilities of a Product manager</vt:lpstr>
      <vt:lpstr>Skills of a Successful PRODUCT MANAGER</vt:lpstr>
      <vt:lpstr>Product Management   With  Agile Methodology </vt:lpstr>
      <vt:lpstr>PRODUCT + AGILE</vt:lpstr>
      <vt:lpstr>Why PM is Exciting for Students </vt:lpstr>
      <vt:lpstr>How can you start your PM Journey in College</vt:lpstr>
      <vt:lpstr>Key Takeaways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aaditya pspathania</dc:creator>
  <cp:lastModifiedBy>aaditya pspathania</cp:lastModifiedBy>
  <cp:revision>1</cp:revision>
  <dcterms:created xsi:type="dcterms:W3CDTF">2025-08-11T07:38:05Z</dcterms:created>
  <dcterms:modified xsi:type="dcterms:W3CDTF">2025-08-11T09:38:38Z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