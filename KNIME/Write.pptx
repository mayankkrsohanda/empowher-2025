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 id="2147483672" r:id="rId2"/>
  </p:sldMasterIdLst>
  <p:notesMasterIdLst>
    <p:notesMasterId r:id="rId15"/>
  </p:notesMasterIdLst>
  <p:sldIdLst>
    <p:sldId id="2584" r:id="rId3"/>
    <p:sldId id="2562" r:id="rId4"/>
    <p:sldId id="2598" r:id="rId5"/>
    <p:sldId id="2568" r:id="rId6"/>
    <p:sldId id="2601" r:id="rId7"/>
    <p:sldId id="2595" r:id="rId8"/>
    <p:sldId id="2596" r:id="rId9"/>
    <p:sldId id="2585" r:id="rId10"/>
    <p:sldId id="2602" r:id="rId11"/>
    <p:sldId id="2603" r:id="rId12"/>
    <p:sldId id="2604" r:id="rId13"/>
    <p:sldId id="259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ing KNIME: Unlocking the Power of Data Analytics" id="{620EA71D-9312-4049-ACD5-D192FE037841}">
          <p14:sldIdLst>
            <p14:sldId id="2584"/>
            <p14:sldId id="2562"/>
          </p14:sldIdLst>
        </p14:section>
        <p14:section name="Ice-Breaking Session" id="{18B76EA1-2158-4F54-9295-AC9050505F66}">
          <p14:sldIdLst>
            <p14:sldId id="2598"/>
          </p14:sldIdLst>
        </p14:section>
        <p14:section name="Nodes" id="{4B36101C-C4B1-408E-9A8E-DBB2C1414C41}">
          <p14:sldIdLst>
            <p14:sldId id="2568"/>
            <p14:sldId id="2601"/>
            <p14:sldId id="2595"/>
          </p14:sldIdLst>
        </p14:section>
        <p14:section name="Knime Server" id="{604F7E8C-EE71-49CE-80D1-CDE8F8D96554}">
          <p14:sldIdLst>
            <p14:sldId id="2596"/>
            <p14:sldId id="2585"/>
            <p14:sldId id="2602"/>
            <p14:sldId id="2603"/>
            <p14:sldId id="2604"/>
          </p14:sldIdLst>
        </p14:section>
        <p14:section name="Conclusion" id="{3D9F23CB-D70A-4766-818E-6D16E3D08895}">
          <p14:sldIdLst>
            <p14:sldId id="25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954A89-AF78-408A-B94D-733065AB6857}" v="11" dt="2025-09-11T14:23:26.9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89985" autoAdjust="0"/>
  </p:normalViewPr>
  <p:slideViewPr>
    <p:cSldViewPr snapToGrid="0">
      <p:cViewPr varScale="1">
        <p:scale>
          <a:sx n="71" d="100"/>
          <a:sy n="71" d="100"/>
        </p:scale>
        <p:origin x="852" y="2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chithra . (Ratings - Tech)" userId="df915f10-5e26-47d3-8547-3b19128a4401" providerId="ADAL" clId="{D8954A89-AF78-408A-B94D-733065AB6857}"/>
    <pc:docChg chg="custSel addSld delSld modSld modSection">
      <pc:chgData name="Suchithra . (Ratings - Tech)" userId="df915f10-5e26-47d3-8547-3b19128a4401" providerId="ADAL" clId="{D8954A89-AF78-408A-B94D-733065AB6857}" dt="2025-09-11T14:24:53.096" v="25" actId="13822"/>
      <pc:docMkLst>
        <pc:docMk/>
      </pc:docMkLst>
      <pc:sldChg chg="modSp mod">
        <pc:chgData name="Suchithra . (Ratings - Tech)" userId="df915f10-5e26-47d3-8547-3b19128a4401" providerId="ADAL" clId="{D8954A89-AF78-408A-B94D-733065AB6857}" dt="2025-09-11T14:24:04.281" v="24" actId="20577"/>
        <pc:sldMkLst>
          <pc:docMk/>
          <pc:sldMk cId="2153283568" sldId="2562"/>
        </pc:sldMkLst>
        <pc:spChg chg="mod">
          <ac:chgData name="Suchithra . (Ratings - Tech)" userId="df915f10-5e26-47d3-8547-3b19128a4401" providerId="ADAL" clId="{D8954A89-AF78-408A-B94D-733065AB6857}" dt="2025-09-11T14:24:04.281" v="24" actId="20577"/>
          <ac:spMkLst>
            <pc:docMk/>
            <pc:sldMk cId="2153283568" sldId="2562"/>
            <ac:spMk id="16" creationId="{239C24CE-193D-AC34-F230-77507983C1BA}"/>
          </ac:spMkLst>
        </pc:spChg>
      </pc:sldChg>
      <pc:sldChg chg="modSp">
        <pc:chgData name="Suchithra . (Ratings - Tech)" userId="df915f10-5e26-47d3-8547-3b19128a4401" providerId="ADAL" clId="{D8954A89-AF78-408A-B94D-733065AB6857}" dt="2025-09-08T07:49:03.018" v="5" actId="20577"/>
        <pc:sldMkLst>
          <pc:docMk/>
          <pc:sldMk cId="1998218402" sldId="2584"/>
        </pc:sldMkLst>
        <pc:spChg chg="mod">
          <ac:chgData name="Suchithra . (Ratings - Tech)" userId="df915f10-5e26-47d3-8547-3b19128a4401" providerId="ADAL" clId="{D8954A89-AF78-408A-B94D-733065AB6857}" dt="2025-09-08T07:49:03.018" v="5" actId="20577"/>
          <ac:spMkLst>
            <pc:docMk/>
            <pc:sldMk cId="1998218402" sldId="2584"/>
            <ac:spMk id="3" creationId="{03DAED1B-01A7-C2F0-8076-90C3613C222E}"/>
          </ac:spMkLst>
        </pc:spChg>
      </pc:sldChg>
      <pc:sldChg chg="addSp delSp modSp del mod">
        <pc:chgData name="Suchithra . (Ratings - Tech)" userId="df915f10-5e26-47d3-8547-3b19128a4401" providerId="ADAL" clId="{D8954A89-AF78-408A-B94D-733065AB6857}" dt="2025-09-11T14:23:41.927" v="19" actId="47"/>
        <pc:sldMkLst>
          <pc:docMk/>
          <pc:sldMk cId="2060228935" sldId="2594"/>
        </pc:sldMkLst>
        <pc:spChg chg="del">
          <ac:chgData name="Suchithra . (Ratings - Tech)" userId="df915f10-5e26-47d3-8547-3b19128a4401" providerId="ADAL" clId="{D8954A89-AF78-408A-B94D-733065AB6857}" dt="2025-09-11T14:22:19.489" v="7" actId="478"/>
          <ac:spMkLst>
            <pc:docMk/>
            <pc:sldMk cId="2060228935" sldId="2594"/>
            <ac:spMk id="2" creationId="{AC5B2ED6-A5EB-FD0A-BCB5-DAE8ACAC930A}"/>
          </ac:spMkLst>
        </pc:spChg>
        <pc:spChg chg="mod">
          <ac:chgData name="Suchithra . (Ratings - Tech)" userId="df915f10-5e26-47d3-8547-3b19128a4401" providerId="ADAL" clId="{D8954A89-AF78-408A-B94D-733065AB6857}" dt="2025-09-11T14:23:18.453" v="13" actId="1076"/>
          <ac:spMkLst>
            <pc:docMk/>
            <pc:sldMk cId="2060228935" sldId="2594"/>
            <ac:spMk id="11" creationId="{4322A3B8-5A6A-392B-6E09-73C225E5EC15}"/>
          </ac:spMkLst>
        </pc:spChg>
        <pc:picChg chg="add mod">
          <ac:chgData name="Suchithra . (Ratings - Tech)" userId="df915f10-5e26-47d3-8547-3b19128a4401" providerId="ADAL" clId="{D8954A89-AF78-408A-B94D-733065AB6857}" dt="2025-09-11T14:22:25.365" v="10" actId="14100"/>
          <ac:picMkLst>
            <pc:docMk/>
            <pc:sldMk cId="2060228935" sldId="2594"/>
            <ac:picMk id="3" creationId="{FC66B498-012D-492E-16A5-70EFD8BFB436}"/>
          </ac:picMkLst>
        </pc:picChg>
        <pc:picChg chg="add mod">
          <ac:chgData name="Suchithra . (Ratings - Tech)" userId="df915f10-5e26-47d3-8547-3b19128a4401" providerId="ADAL" clId="{D8954A89-AF78-408A-B94D-733065AB6857}" dt="2025-09-11T14:23:01.316" v="11"/>
          <ac:picMkLst>
            <pc:docMk/>
            <pc:sldMk cId="2060228935" sldId="2594"/>
            <ac:picMk id="5" creationId="{81823ACB-F2F5-A634-0B0D-0DD096AAE3D1}"/>
          </ac:picMkLst>
        </pc:picChg>
        <pc:picChg chg="del">
          <ac:chgData name="Suchithra . (Ratings - Tech)" userId="df915f10-5e26-47d3-8547-3b19128a4401" providerId="ADAL" clId="{D8954A89-AF78-408A-B94D-733065AB6857}" dt="2025-09-11T14:22:17.177" v="6" actId="478"/>
          <ac:picMkLst>
            <pc:docMk/>
            <pc:sldMk cId="2060228935" sldId="2594"/>
            <ac:picMk id="1026" creationId="{31BEE7A6-9376-DBB0-ED13-29745C1402A8}"/>
          </ac:picMkLst>
        </pc:picChg>
      </pc:sldChg>
      <pc:sldChg chg="modSp mod">
        <pc:chgData name="Suchithra . (Ratings - Tech)" userId="df915f10-5e26-47d3-8547-3b19128a4401" providerId="ADAL" clId="{D8954A89-AF78-408A-B94D-733065AB6857}" dt="2025-09-11T14:24:53.096" v="25" actId="13822"/>
        <pc:sldMkLst>
          <pc:docMk/>
          <pc:sldMk cId="1773478920" sldId="2595"/>
        </pc:sldMkLst>
        <pc:picChg chg="mod">
          <ac:chgData name="Suchithra . (Ratings - Tech)" userId="df915f10-5e26-47d3-8547-3b19128a4401" providerId="ADAL" clId="{D8954A89-AF78-408A-B94D-733065AB6857}" dt="2025-09-11T14:24:53.096" v="25" actId="13822"/>
          <ac:picMkLst>
            <pc:docMk/>
            <pc:sldMk cId="1773478920" sldId="2595"/>
            <ac:picMk id="5" creationId="{18222E18-FE08-4FA5-86B6-E79768E3B838}"/>
          </ac:picMkLst>
        </pc:picChg>
      </pc:sldChg>
      <pc:sldChg chg="addSp delSp modSp add mod">
        <pc:chgData name="Suchithra . (Ratings - Tech)" userId="df915f10-5e26-47d3-8547-3b19128a4401" providerId="ADAL" clId="{D8954A89-AF78-408A-B94D-733065AB6857}" dt="2025-09-11T14:23:37.181" v="18" actId="20577"/>
        <pc:sldMkLst>
          <pc:docMk/>
          <pc:sldMk cId="752665704" sldId="2598"/>
        </pc:sldMkLst>
        <pc:spChg chg="del">
          <ac:chgData name="Suchithra . (Ratings - Tech)" userId="df915f10-5e26-47d3-8547-3b19128a4401" providerId="ADAL" clId="{D8954A89-AF78-408A-B94D-733065AB6857}" dt="2025-09-11T14:23:26.130" v="15" actId="478"/>
          <ac:spMkLst>
            <pc:docMk/>
            <pc:sldMk cId="752665704" sldId="2598"/>
            <ac:spMk id="3" creationId="{5801F09B-017D-C880-9781-3E4138A44E72}"/>
          </ac:spMkLst>
        </pc:spChg>
        <pc:spChg chg="add mod">
          <ac:chgData name="Suchithra . (Ratings - Tech)" userId="df915f10-5e26-47d3-8547-3b19128a4401" providerId="ADAL" clId="{D8954A89-AF78-408A-B94D-733065AB6857}" dt="2025-09-11T14:23:31.510" v="17" actId="1076"/>
          <ac:spMkLst>
            <pc:docMk/>
            <pc:sldMk cId="752665704" sldId="2598"/>
            <ac:spMk id="4" creationId="{E976B58A-74E7-30DF-177B-FA2FAAC2F6AA}"/>
          </ac:spMkLst>
        </pc:spChg>
        <pc:spChg chg="del">
          <ac:chgData name="Suchithra . (Ratings - Tech)" userId="df915f10-5e26-47d3-8547-3b19128a4401" providerId="ADAL" clId="{D8954A89-AF78-408A-B94D-733065AB6857}" dt="2025-09-11T14:23:24.469" v="14" actId="478"/>
          <ac:spMkLst>
            <pc:docMk/>
            <pc:sldMk cId="752665704" sldId="2598"/>
            <ac:spMk id="8" creationId="{44F17013-F3CC-54E7-3AF9-F8E550857E65}"/>
          </ac:spMkLst>
        </pc:spChg>
        <pc:spChg chg="mod">
          <ac:chgData name="Suchithra . (Ratings - Tech)" userId="df915f10-5e26-47d3-8547-3b19128a4401" providerId="ADAL" clId="{D8954A89-AF78-408A-B94D-733065AB6857}" dt="2025-09-11T14:23:37.181" v="18" actId="20577"/>
          <ac:spMkLst>
            <pc:docMk/>
            <pc:sldMk cId="752665704" sldId="2598"/>
            <ac:spMk id="13" creationId="{6DAFE14F-78B2-3792-15A0-06411B9EC74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C314EC-574C-4167-AE43-DDD2BD156D23}" type="datetimeFigureOut">
              <a:rPr lang="en-US" smtClean="0"/>
              <a:t>9/11/2025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79937-098A-46C2-8C67-228E8D47B7CE}" type="slidenum">
              <a:rPr lang="en-US" smtClean="0"/>
              <a:t>‹#›</a:t>
            </a:fld>
            <a:endParaRPr lang="en-US"/>
          </a:p>
        </p:txBody>
      </p:sp>
    </p:spTree>
    <p:extLst>
      <p:ext uri="{BB962C8B-B14F-4D97-AF65-F5344CB8AC3E}">
        <p14:creationId xmlns:p14="http://schemas.microsoft.com/office/powerpoint/2010/main" val="1805223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A0F4-603E-D32A-0FCD-1905FEA99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D2DB3-5095-2626-FD82-D9FD56896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24FF9-E80E-AD2A-1748-7A78D4D9ADE1}"/>
              </a:ext>
            </a:extLst>
          </p:cNvPr>
          <p:cNvSpPr>
            <a:spLocks noGrp="1"/>
          </p:cNvSpPr>
          <p:nvPr>
            <p:ph type="body" idx="1"/>
          </p:nvPr>
        </p:nvSpPr>
        <p:spPr/>
        <p:txBody>
          <a:bodyPr/>
          <a:lstStyle/>
          <a:p>
            <a:r>
              <a:rPr lang="en-US"/>
              <a:t>Now we will discuss ETL, a crucial process in the world of data analytics that prepares data for analysis. Understanding ETL will provide a foundation for using KNIME effectively.</a:t>
            </a:r>
          </a:p>
        </p:txBody>
      </p:sp>
      <p:sp>
        <p:nvSpPr>
          <p:cNvPr id="4" name="Slide Number Placeholder 3">
            <a:extLst>
              <a:ext uri="{FF2B5EF4-FFF2-40B4-BE49-F238E27FC236}">
                <a16:creationId xmlns:a16="http://schemas.microsoft.com/office/drawing/2014/main" id="{7A7DEBA8-C14A-E388-ADF1-C142893341F8}"/>
              </a:ext>
            </a:extLst>
          </p:cNvPr>
          <p:cNvSpPr>
            <a:spLocks noGrp="1"/>
          </p:cNvSpPr>
          <p:nvPr>
            <p:ph type="sldNum" sz="quarter" idx="5"/>
          </p:nvPr>
        </p:nvSpPr>
        <p:spPr/>
        <p:txBody>
          <a:bodyPr/>
          <a:lstStyle/>
          <a:p>
            <a:fld id="{7E0028B7-3F8C-4184-B1B5-956CCD199B9B}" type="slidenum">
              <a:rPr lang="en-US" smtClean="0"/>
              <a:t>1</a:t>
            </a:fld>
            <a:endParaRPr lang="en-US"/>
          </a:p>
        </p:txBody>
      </p:sp>
    </p:spTree>
    <p:extLst>
      <p:ext uri="{BB962C8B-B14F-4D97-AF65-F5344CB8AC3E}">
        <p14:creationId xmlns:p14="http://schemas.microsoft.com/office/powerpoint/2010/main" val="2477940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start with an ice-breaking session to get to know each other. Then, we'll dive into the concept of ETL and its importance in data analytics. Following that, we'll introduce KNIME, examining its features and applications. Finally, we will explore KNIME's interface, workflow design, and reporting capabilities.</a:t>
            </a:r>
          </a:p>
        </p:txBody>
      </p:sp>
      <p:sp>
        <p:nvSpPr>
          <p:cNvPr id="4" name="Slide Number Placeholder 3"/>
          <p:cNvSpPr>
            <a:spLocks noGrp="1"/>
          </p:cNvSpPr>
          <p:nvPr>
            <p:ph type="sldNum" sz="quarter" idx="5"/>
          </p:nvPr>
        </p:nvSpPr>
        <p:spPr/>
        <p:txBody>
          <a:bodyPr/>
          <a:lstStyle/>
          <a:p>
            <a:fld id="{7E0028B7-3F8C-4184-B1B5-956CCD199B9B}" type="slidenum">
              <a:rPr lang="en-US" smtClean="0"/>
              <a:t>2</a:t>
            </a:fld>
            <a:endParaRPr lang="en-US"/>
          </a:p>
        </p:txBody>
      </p:sp>
    </p:spTree>
    <p:extLst>
      <p:ext uri="{BB962C8B-B14F-4D97-AF65-F5344CB8AC3E}">
        <p14:creationId xmlns:p14="http://schemas.microsoft.com/office/powerpoint/2010/main" val="24942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p:cNvSpPr>
            <a:spLocks noGrp="1"/>
          </p:cNvSpPr>
          <p:nvPr>
            <p:ph type="sldNum" sz="quarter" idx="5"/>
          </p:nvPr>
        </p:nvSpPr>
        <p:spPr/>
        <p:txBody>
          <a:bodyPr/>
          <a:lstStyle/>
          <a:p>
            <a:fld id="{7E0028B7-3F8C-4184-B1B5-956CCD199B9B}" type="slidenum">
              <a:rPr lang="en-US" smtClean="0"/>
              <a:t>4</a:t>
            </a:fld>
            <a:endParaRPr lang="en-US"/>
          </a:p>
        </p:txBody>
      </p:sp>
    </p:spTree>
    <p:extLst>
      <p:ext uri="{BB962C8B-B14F-4D97-AF65-F5344CB8AC3E}">
        <p14:creationId xmlns:p14="http://schemas.microsoft.com/office/powerpoint/2010/main" val="4208071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32E60-1261-FA1F-2155-3C5845129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C6465-C962-21EF-90E7-F71A6E757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EAB50-A26C-47D1-C8D2-F623771E5C66}"/>
              </a:ext>
            </a:extLst>
          </p:cNvPr>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a:extLst>
              <a:ext uri="{FF2B5EF4-FFF2-40B4-BE49-F238E27FC236}">
                <a16:creationId xmlns:a16="http://schemas.microsoft.com/office/drawing/2014/main" id="{4FC530DE-082D-777C-D114-882D7636A4D1}"/>
              </a:ext>
            </a:extLst>
          </p:cNvPr>
          <p:cNvSpPr>
            <a:spLocks noGrp="1"/>
          </p:cNvSpPr>
          <p:nvPr>
            <p:ph type="sldNum" sz="quarter" idx="5"/>
          </p:nvPr>
        </p:nvSpPr>
        <p:spPr/>
        <p:txBody>
          <a:bodyPr/>
          <a:lstStyle/>
          <a:p>
            <a:fld id="{7E0028B7-3F8C-4184-B1B5-956CCD199B9B}" type="slidenum">
              <a:rPr lang="en-US" smtClean="0"/>
              <a:t>5</a:t>
            </a:fld>
            <a:endParaRPr lang="en-US"/>
          </a:p>
        </p:txBody>
      </p:sp>
    </p:spTree>
    <p:extLst>
      <p:ext uri="{BB962C8B-B14F-4D97-AF65-F5344CB8AC3E}">
        <p14:creationId xmlns:p14="http://schemas.microsoft.com/office/powerpoint/2010/main" val="4171255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DDB2-0F83-9BCE-1453-D446AE623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3C671-8639-A06E-4C91-8C96B30A6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8BEE0-5DCA-655C-ACFA-8BE01EA9D572}"/>
              </a:ext>
            </a:extLst>
          </p:cNvPr>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a:extLst>
              <a:ext uri="{FF2B5EF4-FFF2-40B4-BE49-F238E27FC236}">
                <a16:creationId xmlns:a16="http://schemas.microsoft.com/office/drawing/2014/main" id="{FE3D3163-2D21-BE4A-A60A-6EB0FC0C9CF9}"/>
              </a:ext>
            </a:extLst>
          </p:cNvPr>
          <p:cNvSpPr>
            <a:spLocks noGrp="1"/>
          </p:cNvSpPr>
          <p:nvPr>
            <p:ph type="sldNum" sz="quarter" idx="5"/>
          </p:nvPr>
        </p:nvSpPr>
        <p:spPr/>
        <p:txBody>
          <a:bodyPr/>
          <a:lstStyle/>
          <a:p>
            <a:fld id="{7E0028B7-3F8C-4184-B1B5-956CCD199B9B}" type="slidenum">
              <a:rPr lang="en-US" smtClean="0"/>
              <a:t>6</a:t>
            </a:fld>
            <a:endParaRPr lang="en-US"/>
          </a:p>
        </p:txBody>
      </p:sp>
    </p:spTree>
    <p:extLst>
      <p:ext uri="{BB962C8B-B14F-4D97-AF65-F5344CB8AC3E}">
        <p14:creationId xmlns:p14="http://schemas.microsoft.com/office/powerpoint/2010/main" val="12190917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31170220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7555712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8822148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1613474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97711737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5952476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29363724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16630434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377082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62931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5409327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11558725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4078779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833353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1236197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0613335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9954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740849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979831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6838399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0694928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6617849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640633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2" name="Freeform 5">
            <a:extLst>
              <a:ext uri="{FF2B5EF4-FFF2-40B4-BE49-F238E27FC236}">
                <a16:creationId xmlns:a16="http://schemas.microsoft.com/office/drawing/2014/main" id="{37A12BAC-7CE9-5878-7C76-A1E57C36C87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986169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965648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063848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940084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508950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47004716"/>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 style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00218533"/>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 style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485355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9691002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3701217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1303044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10669841"/>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5845816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99377166"/>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189528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endParaRPr lang="en-US"/>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70C12960-6E85-460F-B6E3-5B82CB31AF3D}" type="slidenum">
              <a:rPr lang="en-US" smtClean="0"/>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9162230"/>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99196544"/>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951736063"/>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80157701"/>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885347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99712279"/>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8557610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6183703"/>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4453534"/>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57848893"/>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2567697"/>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0745417"/>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Rectangle 11">
            <a:extLst>
              <a:ext uri="{FF2B5EF4-FFF2-40B4-BE49-F238E27FC236}">
                <a16:creationId xmlns:a16="http://schemas.microsoft.com/office/drawing/2014/main" id="{34E1A2AF-0ED4-BF22-E0B5-072609F36CD0}"/>
              </a:ext>
            </a:extLst>
          </p:cNvPr>
          <p:cNvSpPr/>
          <p:nvPr/>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 style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0412287"/>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640174989"/>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83420828"/>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 style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Freeform 5">
            <a:extLst>
              <a:ext uri="{FF2B5EF4-FFF2-40B4-BE49-F238E27FC236}">
                <a16:creationId xmlns:a16="http://schemas.microsoft.com/office/drawing/2014/main" id="{CFEF52EF-E8C0-B287-4EE6-AFF11A6B737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38715990"/>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6" name="Freeform 5">
            <a:extLst>
              <a:ext uri="{FF2B5EF4-FFF2-40B4-BE49-F238E27FC236}">
                <a16:creationId xmlns:a16="http://schemas.microsoft.com/office/drawing/2014/main" id="{8220394B-3676-A47D-2298-A38B48BED14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65510799"/>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8825690"/>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97197089"/>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5245233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2820637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7F77997E-75DB-B44B-A05C-1FA79445773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2931741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20084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288476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41276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2" name="TextBox 11">
            <a:extLst>
              <a:ext uri="{FF2B5EF4-FFF2-40B4-BE49-F238E27FC236}">
                <a16:creationId xmlns:a16="http://schemas.microsoft.com/office/drawing/2014/main" id="{3E8F0C73-A398-6456-DB05-CBC41E2EBB3E}"/>
              </a:ext>
            </a:extLst>
          </p:cNvPr>
          <p:cNvSpPr txBox="1"/>
          <p:nvPr/>
        </p:nvSpPr>
        <p:spPr>
          <a:xfrm>
            <a:off x="548639" y="552450"/>
            <a:ext cx="11089323" cy="5626363"/>
          </a:xfrm>
          <a:prstGeom prst="rect">
            <a:avLst/>
          </a:prstGeom>
          <a:noFill/>
        </p:spPr>
        <p:txBody>
          <a:bodyPr wrap="square" lIns="0" tIns="0" rIns="0" bIns="0" numCol="2" spcCol="182880">
            <a:noAutofit/>
          </a:bodyPr>
          <a:lstStyle/>
          <a:p>
            <a:pPr>
              <a:lnSpc>
                <a:spcPct val="95000"/>
              </a:lnSpc>
              <a:spcAft>
                <a:spcPts val="400"/>
              </a:spcAft>
            </a:pPr>
            <a:r>
              <a:rPr lang="en-US" sz="740">
                <a:effectLst/>
                <a:latin typeface="+mn-lt"/>
                <a:ea typeface="Calibri" panose="020F0502020204030204" pitchFamily="34" charset="0"/>
                <a:cs typeface="Calibri" panose="020F0502020204030204" pitchFamily="34" charset="0"/>
              </a:rPr>
              <a:t>© 2025</a:t>
            </a:r>
            <a:r>
              <a:rPr lang="en-US" sz="740">
                <a:solidFill>
                  <a:srgbClr val="FF0000"/>
                </a:solidFill>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Moody’s Corporation, Moody’s Investors Service, Inc., Moody’s Analytics, Inc. and/or their licensors and affiliates (collectively, “MOODY’S”). All rights reserved.</a:t>
            </a:r>
            <a:endParaRPr lang="en-CR" sz="740">
              <a:effectLst/>
              <a:latin typeface="+mn-lt"/>
              <a:ea typeface="Calibri" panose="020F0502020204030204" pitchFamily="34" charset="0"/>
              <a:cs typeface="Calibri" panose="020F0502020204030204" pitchFamily="34" charset="0"/>
            </a:endParaRPr>
          </a:p>
          <a:p>
            <a:pPr marL="9525" marR="142240" indent="0">
              <a:tabLst/>
            </a:pPr>
            <a:r>
              <a:rPr lang="en-US" sz="740" u="none" strike="noStrike">
                <a:effectLst/>
                <a:latin typeface="+mn-lt"/>
                <a:ea typeface="DengXian" panose="02010600030101010101" pitchFamily="2" charset="-122"/>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ANY PERSON AS A BENCHMARK AS THAT TERM IS DEFINED FOR REGULATORY PURPOSES AND MUST NOT BE USED IN ANY WAY THAT COULD RESULT IN THEM BEING CONSIDERED A BENCHMARK.</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40" err="1">
                <a:effectLst/>
                <a:latin typeface="+mn-lt"/>
                <a:ea typeface="Calibri" panose="020F0502020204030204" pitchFamily="34" charset="0"/>
                <a:cs typeface="Calibri" panose="020F0502020204030204" pitchFamily="34" charset="0"/>
              </a:rPr>
              <a:t>ir.moodys.com</a:t>
            </a:r>
            <a:r>
              <a:rPr lang="en-US" sz="740">
                <a:effectLst/>
                <a:latin typeface="+mn-lt"/>
                <a:ea typeface="Calibri" panose="020F0502020204030204" pitchFamily="34" charset="0"/>
                <a:cs typeface="Calibri" panose="020F0502020204030204" pitchFamily="34" charset="0"/>
              </a:rPr>
              <a:t> under the heading “Investor Relations — Corporate Governance — Charter and Governance Documents - Director and Shareholder Affiliation Policy.”</a:t>
            </a:r>
            <a:r>
              <a:rPr lang="en-US" sz="740">
                <a:solidFill>
                  <a:srgbClr val="1F497D"/>
                </a:solidFill>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endParaRPr>
          </a:p>
          <a:p>
            <a:r>
              <a:rPr lang="en-US" sz="740">
                <a:effectLst/>
                <a:latin typeface="+mn-lt"/>
                <a:ea typeface="Calibri" panose="020F0502020204030204" pitchFamily="34" charset="0"/>
              </a:rPr>
              <a:t>Moody's SF Japan K.K., Moody's Local AR </a:t>
            </a:r>
            <a:r>
              <a:rPr lang="en-US" sz="740" err="1">
                <a:effectLst/>
                <a:latin typeface="+mn-lt"/>
                <a:ea typeface="Calibri" panose="020F0502020204030204" pitchFamily="34" charset="0"/>
              </a:rPr>
              <a:t>Agente</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Calificación</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Moody’s Local BR </a:t>
            </a:r>
            <a:r>
              <a:rPr lang="en-US" sz="740" err="1">
                <a:effectLst/>
                <a:latin typeface="+mn-lt"/>
                <a:ea typeface="Calibri" panose="020F0502020204030204" pitchFamily="34" charset="0"/>
              </a:rPr>
              <a:t>Agência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Classificação</a:t>
            </a:r>
            <a:r>
              <a:rPr lang="en-US" sz="740">
                <a:effectLst/>
                <a:latin typeface="+mn-lt"/>
                <a:ea typeface="Calibri" panose="020F0502020204030204" pitchFamily="34" charset="0"/>
              </a:rPr>
              <a:t> de Risco LTDA, Moody’s Local MX S.A. de C.V, I.C.V., Moody's Local PE </a:t>
            </a:r>
            <a:r>
              <a:rPr lang="en-US" sz="740" err="1">
                <a:effectLst/>
                <a:latin typeface="+mn-lt"/>
                <a:ea typeface="Calibri" panose="020F0502020204030204" pitchFamily="34" charset="0"/>
              </a:rPr>
              <a:t>Clasificadora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and Moody's Local PA </a:t>
            </a:r>
            <a:r>
              <a:rPr lang="en-US" sz="740" err="1">
                <a:effectLst/>
                <a:latin typeface="+mn-lt"/>
                <a:ea typeface="Calibri" panose="020F0502020204030204" pitchFamily="34" charset="0"/>
              </a:rPr>
              <a:t>Calificadora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(collectively, the “Moody’s Non-NRSRO CRAs”) are all indirectly wholly-owned credit rating agency subsidiaries of MCO. None of the Moody’s Non-NRSRO CRAs is a Nationally Recognized Statistical Rating Organization.</a:t>
            </a:r>
            <a:br>
              <a:rPr lang="en-CR" sz="740">
                <a:effectLst/>
                <a:latin typeface="+mn-lt"/>
                <a:ea typeface="Calibri" panose="020F0502020204030204" pitchFamily="34" charset="0"/>
                <a:cs typeface="+mn-cs"/>
              </a:rPr>
            </a:b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cs typeface="Calibri" panose="020F0502020204030204" pitchFamily="34" charset="0"/>
            </a:endParaRPr>
          </a:p>
        </p:txBody>
      </p:sp>
      <p:sp>
        <p:nvSpPr>
          <p:cNvPr id="3" name="Freeform 5">
            <a:extLst>
              <a:ext uri="{FF2B5EF4-FFF2-40B4-BE49-F238E27FC236}">
                <a16:creationId xmlns:a16="http://schemas.microsoft.com/office/drawing/2014/main" id="{F1F6E4C1-C039-2676-3506-F084F00FD8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74008354"/>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887360"/>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505885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95241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304783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8.xml"/><Relationship Id="rId2" Type="http://schemas.openxmlformats.org/officeDocument/2006/relationships/slideLayout" Target="../slideLayouts/slideLayout67.xml"/><Relationship Id="rId1" Type="http://schemas.openxmlformats.org/officeDocument/2006/relationships/slideLayout" Target="../slideLayouts/slideLayout66.xml"/><Relationship Id="rId5" Type="http://schemas.openxmlformats.org/officeDocument/2006/relationships/theme" Target="../theme/theme2.xml"/><Relationship Id="rId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70C12960-6E85-460F-B6E3-5B82CB31AF3D}" type="slidenum">
              <a:rPr lang="en-US" smtClean="0"/>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9/11/2025</a:t>
            </a:fld>
            <a:endParaRPr lang="en-US"/>
          </a:p>
        </p:txBody>
      </p:sp>
    </p:spTree>
    <p:extLst>
      <p:ext uri="{BB962C8B-B14F-4D97-AF65-F5344CB8AC3E}">
        <p14:creationId xmlns:p14="http://schemas.microsoft.com/office/powerpoint/2010/main" val="28175737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46" r:id="rId46"/>
    <p:sldLayoutId id="2147483719" r:id="rId47"/>
    <p:sldLayoutId id="2147483720" r:id="rId48"/>
    <p:sldLayoutId id="2147483721" r:id="rId49"/>
    <p:sldLayoutId id="2147483744" r:id="rId50"/>
    <p:sldLayoutId id="2147483723" r:id="rId51"/>
    <p:sldLayoutId id="2147483724" r:id="rId52"/>
    <p:sldLayoutId id="2147483725" r:id="rId53"/>
    <p:sldLayoutId id="2147483726" r:id="rId54"/>
    <p:sldLayoutId id="2147483727" r:id="rId55"/>
    <p:sldLayoutId id="2147483728" r:id="rId56"/>
    <p:sldLayoutId id="2147483729" r:id="rId57"/>
    <p:sldLayoutId id="2147483730" r:id="rId58"/>
    <p:sldLayoutId id="2147483731" r:id="rId59"/>
    <p:sldLayoutId id="2147483732" r:id="rId60"/>
    <p:sldLayoutId id="2147483733" r:id="rId61"/>
    <p:sldLayoutId id="2147483734" r:id="rId62"/>
    <p:sldLayoutId id="2147483735" r:id="rId63"/>
    <p:sldLayoutId id="2147483736" r:id="rId64"/>
    <p:sldLayoutId id="2147483737" r:id="rId65"/>
  </p:sldLayoutIdLst>
  <p:hf sldNum="0"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718" r:id="rId1"/>
    <p:sldLayoutId id="2147483739" r:id="rId2"/>
    <p:sldLayoutId id="2147483722" r:id="rId3"/>
    <p:sldLayoutId id="2147483742" r:id="rId4"/>
  </p:sldLayoutIdLst>
  <p:hf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2.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hyperlink" Target="https://www.bing.com/videos/riverview/relatedvideo?q=knime%20deploy%20workflows%20adhoc%20run&amp;view=riverview&amp;mid=84A1F75EE4A9F8DAF39D84A1F75EE4A9F8DAF39D&amp;ajaxhist=0" TargetMode="External"/><Relationship Id="rId2" Type="http://schemas.openxmlformats.org/officeDocument/2006/relationships/image" Target="../media/image14.png"/><Relationship Id="rId1" Type="http://schemas.openxmlformats.org/officeDocument/2006/relationships/slideLayout" Target="../slideLayouts/slideLayout69.xml"/><Relationship Id="rId6" Type="http://schemas.openxmlformats.org/officeDocument/2006/relationships/hyperlink" Target="https://www.bing.com/videos/riverview/relatedvideo?q=knime%20deploy%20workflows%20adhoc%20run&amp;view=riverview&amp;mid=6B77E21AB038BEBA8E366B77E21AB038BEBA8E36&amp;ajaxhist=0" TargetMode="External"/><Relationship Id="rId5" Type="http://schemas.openxmlformats.org/officeDocument/2006/relationships/hyperlink" Target="https://www.bing.com/videos/riverview/relatedvideo?q=knime%20deploy%20workflows%20adhoc%20run&amp;view=riverview&amp;mid=7D1520C842F2CDBF39387D1520C842F2CDBF3938&amp;ajaxhist=0" TargetMode="External"/><Relationship Id="rId4" Type="http://schemas.openxmlformats.org/officeDocument/2006/relationships/hyperlink" Target="https://www.bing.com/videos/riverview/relatedvideo?q=knime+deploy+workflows+adhoc+run&amp;&amp;view=riverview&amp;mmscn=mtsc&amp;mid=6821056D52680CCB60DA6821056D52680CCB60DA&amp;&amp;aps=52&amp;FORM=VMSOVR"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9.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9.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9.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D13E8-3718-D301-6464-237B495EE26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DAED1B-01A7-C2F0-8076-90C3613C222E}"/>
              </a:ext>
            </a:extLst>
          </p:cNvPr>
          <p:cNvSpPr txBox="1">
            <a:spLocks/>
          </p:cNvSpPr>
          <p:nvPr/>
        </p:nvSpPr>
        <p:spPr>
          <a:xfrm>
            <a:off x="752872" y="4210050"/>
            <a:ext cx="10416630" cy="1426604"/>
          </a:xfrm>
          <a:prstGeom prst="rect">
            <a:avLst/>
          </a:prstGeom>
        </p:spPr>
        <p:txBody>
          <a:bodyPr vert="horz" lIns="0" tIns="0" rIns="0" bIns="0" rtlCol="0" anchor="t">
            <a:noAutofit/>
          </a:bodyPr>
          <a:lstStyle>
            <a:lvl1pPr marL="0" indent="0" algn="l" defTabSz="914400" rtl="0" eaLnBrk="1" latinLnBrk="0" hangingPunct="1">
              <a:lnSpc>
                <a:spcPct val="100000"/>
              </a:lnSpc>
              <a:spcBef>
                <a:spcPct val="0"/>
              </a:spcBef>
              <a:buNone/>
              <a:tabLst/>
              <a:defRPr sz="4800" b="1" i="0" kern="1200">
                <a:solidFill>
                  <a:schemeClr val="tx1"/>
                </a:solidFill>
                <a:latin typeface="+mj-lt"/>
                <a:ea typeface="+mj-ea"/>
                <a:cs typeface="+mj-cs"/>
              </a:defRPr>
            </a:lvl1pPr>
          </a:lstStyle>
          <a:p>
            <a:r>
              <a:rPr lang="en-US" sz="5400" dirty="0"/>
              <a:t>KNIME AP</a:t>
            </a:r>
            <a:br>
              <a:rPr lang="en-US" sz="5400" dirty="0"/>
            </a:br>
            <a:r>
              <a:rPr lang="en-US" sz="5400" dirty="0"/>
              <a:t>Session 4 – Write/Deploy</a:t>
            </a:r>
          </a:p>
        </p:txBody>
      </p:sp>
      <p:pic>
        <p:nvPicPr>
          <p:cNvPr id="6" name="Picture 5">
            <a:extLst>
              <a:ext uri="{FF2B5EF4-FFF2-40B4-BE49-F238E27FC236}">
                <a16:creationId xmlns:a16="http://schemas.microsoft.com/office/drawing/2014/main" id="{C042D710-362C-0618-A940-611BC62D1789}"/>
              </a:ext>
            </a:extLst>
          </p:cNvPr>
          <p:cNvPicPr>
            <a:picLocks noChangeAspect="1"/>
          </p:cNvPicPr>
          <p:nvPr/>
        </p:nvPicPr>
        <p:blipFill>
          <a:blip r:embed="rId3"/>
          <a:stretch>
            <a:fillRect/>
          </a:stretch>
        </p:blipFill>
        <p:spPr>
          <a:xfrm>
            <a:off x="63121" y="1620018"/>
            <a:ext cx="3962077" cy="2867098"/>
          </a:xfrm>
          <a:prstGeom prst="rect">
            <a:avLst/>
          </a:prstGeom>
        </p:spPr>
      </p:pic>
    </p:spTree>
    <p:extLst>
      <p:ext uri="{BB962C8B-B14F-4D97-AF65-F5344CB8AC3E}">
        <p14:creationId xmlns:p14="http://schemas.microsoft.com/office/powerpoint/2010/main" val="1998218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E6F5-9890-9B4A-238C-8D4F420A7DDD}"/>
              </a:ext>
            </a:extLst>
          </p:cNvPr>
          <p:cNvSpPr>
            <a:spLocks noGrp="1"/>
          </p:cNvSpPr>
          <p:nvPr>
            <p:ph type="title"/>
          </p:nvPr>
        </p:nvSpPr>
        <p:spPr>
          <a:xfrm>
            <a:off x="366895" y="843845"/>
            <a:ext cx="3644517" cy="1880975"/>
          </a:xfrm>
        </p:spPr>
        <p:txBody>
          <a:bodyPr vert="horz" lIns="91440" tIns="45720" rIns="91440" bIns="45720" rtlCol="0" anchor="t">
            <a:normAutofit/>
          </a:bodyPr>
          <a:lstStyle/>
          <a:p>
            <a:r>
              <a:rPr lang="en-US" sz="4800"/>
              <a:t>Session</a:t>
            </a:r>
            <a:br>
              <a:rPr lang="en-US" sz="4800"/>
            </a:br>
            <a:br>
              <a:rPr lang="en-US" sz="4800"/>
            </a:br>
            <a:r>
              <a:rPr lang="en-US" sz="4800"/>
              <a:t>Outline</a:t>
            </a:r>
          </a:p>
        </p:txBody>
      </p:sp>
      <p:pic>
        <p:nvPicPr>
          <p:cNvPr id="8" name="Content Placeholder 4" descr="Social network">
            <a:extLst>
              <a:ext uri="{FF2B5EF4-FFF2-40B4-BE49-F238E27FC236}">
                <a16:creationId xmlns:a16="http://schemas.microsoft.com/office/drawing/2014/main" id="{FA8B4976-3F01-4880-8A38-7476C4551CC4}"/>
              </a:ext>
            </a:extLst>
          </p:cNvPr>
          <p:cNvPicPr>
            <a:picLocks noChangeAspect="1"/>
          </p:cNvPicPr>
          <p:nvPr/>
        </p:nvPicPr>
        <p:blipFill>
          <a:blip r:embed="rId3"/>
          <a:stretch/>
        </p:blipFill>
        <p:spPr>
          <a:xfrm>
            <a:off x="554038" y="3710932"/>
            <a:ext cx="2822152" cy="1880975"/>
          </a:xfrm>
          <a:prstGeom prst="rect">
            <a:avLst/>
          </a:prstGeom>
          <a:noFill/>
        </p:spPr>
      </p:pic>
      <p:graphicFrame>
        <p:nvGraphicFramePr>
          <p:cNvPr id="11" name="Table Placeholder 7">
            <a:extLst>
              <a:ext uri="{FF2B5EF4-FFF2-40B4-BE49-F238E27FC236}">
                <a16:creationId xmlns:a16="http://schemas.microsoft.com/office/drawing/2014/main" id="{A869F014-C0EB-2766-5ABC-4E27BA0AA9C3}"/>
              </a:ext>
            </a:extLst>
          </p:cNvPr>
          <p:cNvGraphicFramePr>
            <a:graphicFrameLocks/>
          </p:cNvGraphicFramePr>
          <p:nvPr>
            <p:extLst>
              <p:ext uri="{D42A27DB-BD31-4B8C-83A1-F6EECF244321}">
                <p14:modId xmlns:p14="http://schemas.microsoft.com/office/powerpoint/2010/main" val="427375172"/>
              </p:ext>
            </p:extLst>
          </p:nvPr>
        </p:nvGraphicFramePr>
        <p:xfrm>
          <a:off x="4686364" y="570105"/>
          <a:ext cx="5608626" cy="5702046"/>
        </p:xfrm>
        <a:graphic>
          <a:graphicData uri="http://schemas.openxmlformats.org/drawingml/2006/table">
            <a:tbl>
              <a:tblPr>
                <a:tableStyleId>{2D5ABB26-0587-4C30-8999-92F81FD0307C}</a:tableStyleId>
              </a:tblPr>
              <a:tblGrid>
                <a:gridCol w="1383659">
                  <a:extLst>
                    <a:ext uri="{9D8B030D-6E8A-4147-A177-3AD203B41FA5}">
                      <a16:colId xmlns:a16="http://schemas.microsoft.com/office/drawing/2014/main" val="2469643470"/>
                    </a:ext>
                  </a:extLst>
                </a:gridCol>
                <a:gridCol w="4224967">
                  <a:extLst>
                    <a:ext uri="{9D8B030D-6E8A-4147-A177-3AD203B41FA5}">
                      <a16:colId xmlns:a16="http://schemas.microsoft.com/office/drawing/2014/main" val="632822243"/>
                    </a:ext>
                  </a:extLst>
                </a:gridCol>
              </a:tblGrid>
              <a:tr h="743840">
                <a:tc>
                  <a:txBody>
                    <a:bodyPr/>
                    <a:lstStyle/>
                    <a:p>
                      <a:pPr algn="ctr"/>
                      <a:r>
                        <a:rPr lang="en-US" sz="4000" b="1">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400" b="1" i="0" kern="1200">
                          <a:solidFill>
                            <a:schemeClr val="tx1"/>
                          </a:solidFill>
                          <a:effectLst/>
                          <a:latin typeface="+mn-lt"/>
                          <a:ea typeface="GT America Regular" charset="0"/>
                          <a:cs typeface="GT America Regular" charset="0"/>
                        </a:rPr>
                        <a:t>Recap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8126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a:solidFill>
                            <a:schemeClr val="accent1"/>
                          </a:solidFill>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Step 4 – Write Data (Nodes and Configuration)</a:t>
                      </a:r>
                    </a:p>
                    <a:p>
                      <a:endParaRPr lang="en-US" sz="1400" b="0"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877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a:solidFill>
                            <a:schemeClr val="accent1"/>
                          </a:solidFill>
                          <a:latin typeface="+mj-lt"/>
                          <a:ea typeface="+mn-ea"/>
                          <a:cs typeface="+mn-cs"/>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Deploy Workflow</a:t>
                      </a:r>
                    </a:p>
                    <a:p>
                      <a:endParaRPr lang="en-US" sz="1400" b="0"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7777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a:solidFill>
                            <a:schemeClr val="accent1"/>
                          </a:solidFill>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Schedule &amp; Trigger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24902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dirty="0">
                          <a:solidFill>
                            <a:schemeClr val="accent1"/>
                          </a:solidFill>
                          <a:latin typeface="+mj-lt"/>
                          <a:ea typeface="+mn-ea"/>
                          <a:cs typeface="+mn-cs"/>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dirty="0">
                          <a:ln>
                            <a:noFill/>
                          </a:ln>
                          <a:solidFill>
                            <a:schemeClr val="accent1"/>
                          </a:solidFill>
                          <a:effectLst/>
                          <a:uLnTx/>
                          <a:uFillTx/>
                          <a:latin typeface="+mj-l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4000" b="1" kern="1200" noProof="0" dirty="0">
                        <a:solidFill>
                          <a:schemeClr val="accent1"/>
                        </a:solidFill>
                        <a:latin typeface="+mj-lt"/>
                        <a:ea typeface="+mn-ea"/>
                        <a:cs typeface="+mn-cs"/>
                      </a:endParaRPr>
                    </a:p>
                    <a:p>
                      <a:pPr algn="ctr"/>
                      <a:endParaRPr lang="en-US" sz="5400" b="1" dirty="0">
                        <a:solidFill>
                          <a:schemeClr val="accent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b="0" i="0" kern="1200" dirty="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
        <p:nvSpPr>
          <p:cNvPr id="16" name="TextBox 15">
            <a:extLst>
              <a:ext uri="{FF2B5EF4-FFF2-40B4-BE49-F238E27FC236}">
                <a16:creationId xmlns:a16="http://schemas.microsoft.com/office/drawing/2014/main" id="{239C24CE-193D-AC34-F230-77507983C1BA}"/>
              </a:ext>
            </a:extLst>
          </p:cNvPr>
          <p:cNvSpPr txBox="1"/>
          <p:nvPr/>
        </p:nvSpPr>
        <p:spPr>
          <a:xfrm>
            <a:off x="6132760" y="4127163"/>
            <a:ext cx="4198990" cy="524256"/>
          </a:xfrm>
          <a:prstGeom prst="rect">
            <a:avLst/>
          </a:prstGeom>
          <a:noFill/>
        </p:spPr>
        <p:txBody>
          <a:bodyPr wrap="square" lIns="0" tIns="0" rIns="0" bIns="0" rtlCol="0">
            <a:noAutofit/>
          </a:bodyPr>
          <a:lstStyle/>
          <a:p>
            <a:pPr>
              <a:lnSpc>
                <a:spcPct val="101000"/>
              </a:lnSpc>
              <a:spcAft>
                <a:spcPts val="600"/>
              </a:spcAft>
            </a:pPr>
            <a:r>
              <a:rPr lang="en-US" sz="1400" b="1" dirty="0">
                <a:ea typeface="GT America Regular" charset="0"/>
                <a:cs typeface="GT America Regular" charset="0"/>
              </a:rPr>
              <a:t>Hands On / Q &amp; A</a:t>
            </a:r>
          </a:p>
          <a:p>
            <a:pPr algn="l">
              <a:lnSpc>
                <a:spcPct val="101000"/>
              </a:lnSpc>
              <a:spcAft>
                <a:spcPts val="600"/>
              </a:spcAft>
            </a:pPr>
            <a:endPar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1532835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6E96-D0D9-20BB-DF19-59805D3AF51D}"/>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14D0ED7-103B-9FA5-6655-2B1683C51EE2}"/>
              </a:ext>
            </a:extLst>
          </p:cNvPr>
          <p:cNvSpPr>
            <a:spLocks noGrp="1"/>
          </p:cNvSpPr>
          <p:nvPr>
            <p:ph type="body" sz="quarter" idx="15"/>
          </p:nvPr>
        </p:nvSpPr>
        <p:spPr>
          <a:xfrm>
            <a:off x="338795" y="2600980"/>
            <a:ext cx="3300984" cy="896948"/>
          </a:xfrm>
        </p:spPr>
        <p:txBody>
          <a:bodyPr vert="horz" lIns="0" tIns="0" rIns="0" bIns="0" rtlCol="0" anchor="t">
            <a:noAutofit/>
          </a:bodyPr>
          <a:lstStyle/>
          <a:p>
            <a:endParaRPr lang="en-US" sz="3600" b="1">
              <a:latin typeface="+mj-lt"/>
              <a:ea typeface="+mj-ea"/>
              <a:cs typeface="+mj-cs"/>
            </a:endParaRPr>
          </a:p>
          <a:p>
            <a:endParaRPr lang="en-US"/>
          </a:p>
        </p:txBody>
      </p:sp>
      <p:pic>
        <p:nvPicPr>
          <p:cNvPr id="2" name="Picture 1">
            <a:extLst>
              <a:ext uri="{FF2B5EF4-FFF2-40B4-BE49-F238E27FC236}">
                <a16:creationId xmlns:a16="http://schemas.microsoft.com/office/drawing/2014/main" id="{33816775-C94E-88EF-CBF9-6393F90ED4D8}"/>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142156" y="2274514"/>
            <a:ext cx="7983982" cy="269265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2" name="TextBox 11">
            <a:extLst>
              <a:ext uri="{FF2B5EF4-FFF2-40B4-BE49-F238E27FC236}">
                <a16:creationId xmlns:a16="http://schemas.microsoft.com/office/drawing/2014/main" id="{7817EF7B-72D4-9342-192C-3BB71DCCB8DF}"/>
              </a:ext>
            </a:extLst>
          </p:cNvPr>
          <p:cNvSpPr txBox="1"/>
          <p:nvPr/>
        </p:nvSpPr>
        <p:spPr>
          <a:xfrm>
            <a:off x="169533" y="1124141"/>
            <a:ext cx="3780516" cy="1446550"/>
          </a:xfrm>
          <a:prstGeom prst="rect">
            <a:avLst/>
          </a:prstGeom>
          <a:noFill/>
        </p:spPr>
        <p:txBody>
          <a:bodyPr wrap="square">
            <a:spAutoFit/>
          </a:bodyPr>
          <a:lstStyle/>
          <a:p>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endParaRPr lang="en-US" sz="4400"/>
          </a:p>
        </p:txBody>
      </p:sp>
      <p:sp>
        <p:nvSpPr>
          <p:cNvPr id="13" name="TextBox 12">
            <a:extLst>
              <a:ext uri="{FF2B5EF4-FFF2-40B4-BE49-F238E27FC236}">
                <a16:creationId xmlns:a16="http://schemas.microsoft.com/office/drawing/2014/main" id="{6DAFE14F-78B2-3792-15A0-06411B9EC74C}"/>
              </a:ext>
            </a:extLst>
          </p:cNvPr>
          <p:cNvSpPr txBox="1"/>
          <p:nvPr/>
        </p:nvSpPr>
        <p:spPr>
          <a:xfrm>
            <a:off x="169533" y="273984"/>
            <a:ext cx="3780516" cy="769441"/>
          </a:xfrm>
          <a:prstGeom prst="rect">
            <a:avLst/>
          </a:prstGeom>
          <a:noFill/>
        </p:spPr>
        <p:txBody>
          <a:bodyPr wrap="square" lIns="91440" tIns="45720" rIns="91440" bIns="45720" anchor="t">
            <a:spAutoFit/>
          </a:bodyPr>
          <a:lstStyle/>
          <a:p>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STEP 5</a:t>
            </a:r>
            <a:endParaRPr lang="en-US" sz="4400" dirty="0">
              <a:solidFill>
                <a:prstClr val="white"/>
              </a:solidFill>
            </a:endParaRPr>
          </a:p>
        </p:txBody>
      </p:sp>
      <p:pic>
        <p:nvPicPr>
          <p:cNvPr id="5" name="Picture 4">
            <a:extLst>
              <a:ext uri="{FF2B5EF4-FFF2-40B4-BE49-F238E27FC236}">
                <a16:creationId xmlns:a16="http://schemas.microsoft.com/office/drawing/2014/main" id="{71BF7355-44DA-C640-6C21-145DFC966F19}"/>
              </a:ext>
            </a:extLst>
          </p:cNvPr>
          <p:cNvPicPr>
            <a:picLocks noChangeAspect="1"/>
          </p:cNvPicPr>
          <p:nvPr/>
        </p:nvPicPr>
        <p:blipFill>
          <a:blip r:embed="rId4"/>
          <a:stretch>
            <a:fillRect/>
          </a:stretch>
        </p:blipFill>
        <p:spPr>
          <a:xfrm>
            <a:off x="10533200" y="2289449"/>
            <a:ext cx="1368870" cy="2416957"/>
          </a:xfrm>
          <a:prstGeom prst="rect">
            <a:avLst/>
          </a:prstGeom>
        </p:spPr>
      </p:pic>
      <p:pic>
        <p:nvPicPr>
          <p:cNvPr id="6" name="Picture 5">
            <a:extLst>
              <a:ext uri="{FF2B5EF4-FFF2-40B4-BE49-F238E27FC236}">
                <a16:creationId xmlns:a16="http://schemas.microsoft.com/office/drawing/2014/main" id="{13BE702E-EDB3-6EE6-C97A-C8BC4DDC4763}"/>
              </a:ext>
            </a:extLst>
          </p:cNvPr>
          <p:cNvPicPr>
            <a:picLocks noChangeAspect="1"/>
          </p:cNvPicPr>
          <p:nvPr/>
        </p:nvPicPr>
        <p:blipFill>
          <a:blip r:embed="rId5"/>
          <a:stretch>
            <a:fillRect/>
          </a:stretch>
        </p:blipFill>
        <p:spPr>
          <a:xfrm>
            <a:off x="9534712" y="3941821"/>
            <a:ext cx="1258883" cy="732017"/>
          </a:xfrm>
          <a:prstGeom prst="rect">
            <a:avLst/>
          </a:prstGeom>
        </p:spPr>
      </p:pic>
      <p:sp>
        <p:nvSpPr>
          <p:cNvPr id="4" name="TextBox 3">
            <a:extLst>
              <a:ext uri="{FF2B5EF4-FFF2-40B4-BE49-F238E27FC236}">
                <a16:creationId xmlns:a16="http://schemas.microsoft.com/office/drawing/2014/main" id="{E976B58A-74E7-30DF-177B-FA2FAAC2F6AA}"/>
              </a:ext>
            </a:extLst>
          </p:cNvPr>
          <p:cNvSpPr txBox="1"/>
          <p:nvPr/>
        </p:nvSpPr>
        <p:spPr>
          <a:xfrm>
            <a:off x="0" y="2121713"/>
            <a:ext cx="3780516" cy="1446550"/>
          </a:xfrm>
          <a:prstGeom prst="rect">
            <a:avLst/>
          </a:prstGeom>
          <a:noFill/>
        </p:spPr>
        <p:txBody>
          <a:bodyPr wrap="square">
            <a:spAutoFit/>
          </a:bodyPr>
          <a:lstStyle/>
          <a:p>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Write Data</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spTree>
    <p:extLst>
      <p:ext uri="{BB962C8B-B14F-4D97-AF65-F5344CB8AC3E}">
        <p14:creationId xmlns:p14="http://schemas.microsoft.com/office/powerpoint/2010/main" val="752665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B0F4BFB-597A-CBCA-69E3-41B750A1037E}"/>
              </a:ext>
            </a:extLst>
          </p:cNvPr>
          <p:cNvSpPr txBox="1"/>
          <p:nvPr/>
        </p:nvSpPr>
        <p:spPr>
          <a:xfrm>
            <a:off x="249277" y="1407536"/>
            <a:ext cx="3213341" cy="3354765"/>
          </a:xfrm>
          <a:prstGeom prst="rect">
            <a:avLst/>
          </a:prstGeom>
          <a:noFill/>
        </p:spPr>
        <p:txBody>
          <a:bodyPr wrap="square">
            <a:spAutoFit/>
          </a:bodyPr>
          <a:lstStyle/>
          <a:p>
            <a:r>
              <a:rPr kumimoji="0" lang="en-US" sz="4000" b="1" i="0" u="none" strike="noStrike" kern="1200" cap="none" spc="0" normalizeH="0" baseline="0" noProof="0" dirty="0">
                <a:ln>
                  <a:noFill/>
                </a:ln>
                <a:solidFill>
                  <a:prstClr val="white"/>
                </a:solidFill>
                <a:effectLst/>
                <a:uLnTx/>
                <a:uFillTx/>
                <a:latin typeface="Times New Roman" panose="02020603050405020304"/>
                <a:ea typeface="+mj-ea"/>
                <a:cs typeface="+mj-cs"/>
              </a:rPr>
              <a:t>Writing to Local Files</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 </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sp>
        <p:nvSpPr>
          <p:cNvPr id="4" name="TextBox 3">
            <a:extLst>
              <a:ext uri="{FF2B5EF4-FFF2-40B4-BE49-F238E27FC236}">
                <a16:creationId xmlns:a16="http://schemas.microsoft.com/office/drawing/2014/main" id="{9CF425AD-7ACA-8D68-DF52-DE6948CBA9DC}"/>
              </a:ext>
            </a:extLst>
          </p:cNvPr>
          <p:cNvSpPr txBox="1"/>
          <p:nvPr/>
        </p:nvSpPr>
        <p:spPr>
          <a:xfrm>
            <a:off x="4182035" y="121022"/>
            <a:ext cx="7537077" cy="6394077"/>
          </a:xfrm>
          <a:prstGeom prst="rect">
            <a:avLst/>
          </a:prstGeom>
          <a:noFill/>
        </p:spPr>
        <p:txBody>
          <a:bodyPr wrap="square" lIns="0" tIns="0" rIns="0" bIns="0" rtlCol="0">
            <a:noAutofit/>
          </a:bodyPr>
          <a:lstStyle/>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1. CSV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Writes data to .csv format.</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Supports custom delimiters, quote characters, and missing value patterns.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Ideal for exporting tabular data for downstream use in Excel or other tools.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2. Excel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Exports data to .</a:t>
            </a:r>
            <a:r>
              <a:rPr kumimoji="0" lang="en-US" sz="1400" b="0" i="0" u="none" strike="noStrike" kern="1200" cap="none" spc="0" normalizeH="0" baseline="0" noProof="0" dirty="0" err="1">
                <a:ln>
                  <a:noFill/>
                </a:ln>
                <a:solidFill>
                  <a:srgbClr val="000000"/>
                </a:solidFill>
                <a:effectLst/>
                <a:uLnTx/>
                <a:uFillTx/>
                <a:ea typeface="GT America Regular" charset="0"/>
                <a:cs typeface="GT America Regular" charset="0"/>
              </a:rPr>
              <a:t>xls</a:t>
            </a: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 or .xlsx formats.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Allows writing to specific sheets and appending data.</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Advanced options include formatting and overwriting control.</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3. JSON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Outputs structured data in .</a:t>
            </a:r>
            <a:r>
              <a:rPr kumimoji="0" lang="en-US" sz="1400" b="0" i="0" u="none" strike="noStrike" kern="1200" cap="none" spc="0" normalizeH="0" baseline="0" noProof="0" dirty="0" err="1">
                <a:ln>
                  <a:noFill/>
                </a:ln>
                <a:solidFill>
                  <a:srgbClr val="000000"/>
                </a:solidFill>
                <a:effectLst/>
                <a:uLnTx/>
                <a:uFillTx/>
                <a:ea typeface="GT America Regular" charset="0"/>
                <a:cs typeface="GT America Regular" charset="0"/>
              </a:rPr>
              <a:t>json</a:t>
            </a: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 format.</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Supports compression and formatting options.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Useful for APIs, web applications, or configuration files.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4. XML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Writes XML-type table cells to .xml files.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Often used in data exchange or configuration scenarios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5. Image Writer (Port)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Exports images generated by visualization or graphic nodes.</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Commonly used in reporting workflows.</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6. Table to PDF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Converts a KNIME table into a formatted .pdf document.</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Useful for generating static reports or summaries</a:t>
            </a:r>
          </a:p>
        </p:txBody>
      </p:sp>
    </p:spTree>
    <p:extLst>
      <p:ext uri="{BB962C8B-B14F-4D97-AF65-F5344CB8AC3E}">
        <p14:creationId xmlns:p14="http://schemas.microsoft.com/office/powerpoint/2010/main" val="293122275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1E489-479C-116D-0FE6-AB7CEC8EEFA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75C70D4-7D2A-56AC-E90A-5E627CD33EBD}"/>
              </a:ext>
            </a:extLst>
          </p:cNvPr>
          <p:cNvSpPr txBox="1"/>
          <p:nvPr/>
        </p:nvSpPr>
        <p:spPr>
          <a:xfrm>
            <a:off x="249277" y="1407536"/>
            <a:ext cx="3650370" cy="3354765"/>
          </a:xfrm>
          <a:prstGeom prst="rect">
            <a:avLst/>
          </a:prstGeom>
          <a:noFill/>
        </p:spPr>
        <p:txBody>
          <a:bodyPr wrap="square">
            <a:spAutoFit/>
          </a:bodyPr>
          <a:lstStyle/>
          <a:p>
            <a:r>
              <a:rPr kumimoji="0" lang="en-US" sz="4000" b="1" i="0" u="none" strike="noStrike" kern="1200" cap="none" spc="0" normalizeH="0" baseline="0" noProof="0" dirty="0">
                <a:ln>
                  <a:noFill/>
                </a:ln>
                <a:solidFill>
                  <a:prstClr val="white"/>
                </a:solidFill>
                <a:effectLst/>
                <a:uLnTx/>
                <a:uFillTx/>
                <a:latin typeface="Times New Roman" panose="02020603050405020304"/>
                <a:ea typeface="+mj-ea"/>
                <a:cs typeface="+mj-cs"/>
              </a:rPr>
              <a:t>Writing to Databases</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 </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sp>
        <p:nvSpPr>
          <p:cNvPr id="4" name="TextBox 3">
            <a:extLst>
              <a:ext uri="{FF2B5EF4-FFF2-40B4-BE49-F238E27FC236}">
                <a16:creationId xmlns:a16="http://schemas.microsoft.com/office/drawing/2014/main" id="{A24E8C09-BFB9-C823-DFFC-1BE3192A9B46}"/>
              </a:ext>
            </a:extLst>
          </p:cNvPr>
          <p:cNvSpPr txBox="1"/>
          <p:nvPr/>
        </p:nvSpPr>
        <p:spPr>
          <a:xfrm>
            <a:off x="4182035" y="121022"/>
            <a:ext cx="7537077" cy="6394077"/>
          </a:xfrm>
          <a:prstGeom prst="rect">
            <a:avLst/>
          </a:prstGeom>
          <a:noFill/>
        </p:spPr>
        <p:txBody>
          <a:bodyPr wrap="square" lIns="0" tIns="0" rIns="0" bIns="0" rtlCol="0">
            <a:noAutofit/>
          </a:bodyPr>
          <a:lstStyle/>
          <a:p>
            <a:pPr>
              <a:lnSpc>
                <a:spcPct val="101000"/>
              </a:lnSpc>
              <a:spcAft>
                <a:spcPts val="600"/>
              </a:spcAft>
            </a:pPr>
            <a:endParaRPr lang="en-US" sz="1400" dirty="0">
              <a:solidFill>
                <a:srgbClr val="000000"/>
              </a:solidFill>
              <a:ea typeface="GT America Regular" charset="0"/>
              <a:cs typeface="GT America Regular" charset="0"/>
            </a:endParaRP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1. DB Connector Node</a:t>
            </a:r>
          </a:p>
          <a:p>
            <a:pPr algn="l">
              <a:lnSpc>
                <a:spcPct val="101000"/>
              </a:lnSpc>
              <a:spcAft>
                <a:spcPts val="600"/>
              </a:spcAft>
            </a:pPr>
            <a:r>
              <a:rPr kumimoji="0" lang="en-US" sz="1400" i="0" u="none" strike="noStrike" kern="1200" cap="none" spc="0" normalizeH="0" baseline="0" noProof="0" dirty="0">
                <a:ln>
                  <a:noFill/>
                </a:ln>
                <a:solidFill>
                  <a:srgbClr val="000000"/>
                </a:solidFill>
                <a:effectLst/>
                <a:uLnTx/>
                <a:uFillTx/>
                <a:ea typeface="GT America Regular" charset="0"/>
                <a:cs typeface="GT America Regular" charset="0"/>
              </a:rPr>
              <a:t>This node stores the database connection information (e.g., credentials, server details).</a:t>
            </a:r>
          </a:p>
          <a:p>
            <a:pPr algn="l">
              <a:lnSpc>
                <a:spcPct val="101000"/>
              </a:lnSpc>
              <a:spcAft>
                <a:spcPts val="600"/>
              </a:spcAft>
            </a:pPr>
            <a:r>
              <a:rPr kumimoji="0" lang="en-US" sz="1400" i="0" u="none" strike="noStrike" kern="1200" cap="none" spc="0" normalizeH="0" baseline="0" noProof="0" dirty="0">
                <a:ln>
                  <a:noFill/>
                </a:ln>
                <a:solidFill>
                  <a:srgbClr val="000000"/>
                </a:solidFill>
                <a:effectLst/>
                <a:uLnTx/>
                <a:uFillTx/>
                <a:ea typeface="GT America Regular" charset="0"/>
                <a:cs typeface="GT America Regular" charset="0"/>
              </a:rPr>
              <a:t>It acts as the source for both reading and writing operations.</a:t>
            </a:r>
          </a:p>
          <a:p>
            <a:pPr algn="l">
              <a:lnSpc>
                <a:spcPct val="101000"/>
              </a:lnSpc>
              <a:spcAft>
                <a:spcPts val="600"/>
              </a:spcAft>
            </a:pPr>
            <a:r>
              <a:rPr kumimoji="0" lang="en-US" sz="1400" i="0" u="none" strike="noStrike" kern="1200" cap="none" spc="0" normalizeH="0" baseline="0" noProof="0" dirty="0">
                <a:ln>
                  <a:noFill/>
                </a:ln>
                <a:solidFill>
                  <a:srgbClr val="000000"/>
                </a:solidFill>
                <a:effectLst/>
                <a:uLnTx/>
                <a:uFillTx/>
                <a:ea typeface="GT America Regular" charset="0"/>
                <a:cs typeface="GT America Regular" charset="0"/>
              </a:rPr>
              <a:t>You can easily switch environments (e.g., dev to prod) by swapping the connector configuration</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2. DB Writer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This node is used to write data into a database table.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You specify the target table name and the columns to be written.</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It accepts two inputs: one from the DB Connector and one from the data source (e.g., File Reader or Table Creator node).</a:t>
            </a:r>
          </a:p>
          <a:p>
            <a:pPr algn="l">
              <a:lnSpc>
                <a:spcPct val="101000"/>
              </a:lnSpc>
              <a:spcAft>
                <a:spcPts val="600"/>
              </a:spcAft>
            </a:pPr>
            <a:r>
              <a:rPr kumimoji="0" lang="en-US" sz="1400" b="1" i="0" u="none" strike="noStrike" kern="1200" cap="none" spc="0" normalizeH="0" baseline="0" noProof="0" dirty="0">
                <a:ln>
                  <a:noFill/>
                </a:ln>
                <a:solidFill>
                  <a:srgbClr val="000000"/>
                </a:solidFill>
                <a:effectLst/>
                <a:uLnTx/>
                <a:uFillTx/>
                <a:ea typeface="GT America Regular" charset="0"/>
                <a:cs typeface="GT America Regular" charset="0"/>
              </a:rPr>
              <a:t>3. DB Merge Node</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Found in your chat with Oshin Mishra, this node is ideal for </a:t>
            </a:r>
            <a:r>
              <a:rPr kumimoji="0" lang="en-US" sz="1400" b="0" i="0" u="none" strike="noStrike" kern="1200" cap="none" spc="0" normalizeH="0" baseline="0" noProof="0" dirty="0" err="1">
                <a:ln>
                  <a:noFill/>
                </a:ln>
                <a:solidFill>
                  <a:srgbClr val="000000"/>
                </a:solidFill>
                <a:effectLst/>
                <a:uLnTx/>
                <a:uFillTx/>
                <a:ea typeface="GT America Regular" charset="0"/>
                <a:cs typeface="GT America Regular" charset="0"/>
              </a:rPr>
              <a:t>upsert</a:t>
            </a: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 operations—merging data into a table and inserting new rows if no match is found.</a:t>
            </a:r>
          </a:p>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It simplifies workflows where data needs to be updated or appended conditionally.</a:t>
            </a:r>
          </a:p>
          <a:p>
            <a:r>
              <a:rPr lang="en-US" sz="1400" b="1" dirty="0"/>
              <a:t>4. Remote Connections</a:t>
            </a:r>
          </a:p>
          <a:p>
            <a:r>
              <a:rPr lang="en-US" sz="1400" dirty="0"/>
              <a:t>KNIME supports writing to remote databases using the “Add File System Connection port” feature.</a:t>
            </a:r>
          </a:p>
          <a:p>
            <a:r>
              <a:rPr lang="en-US" sz="1400" dirty="0"/>
              <a:t>This allows seamless integration with external systems and cloud-based databases</a:t>
            </a:r>
          </a:p>
          <a:p>
            <a:r>
              <a:rPr lang="en-US" dirty="0"/>
              <a:t>.</a:t>
            </a:r>
          </a:p>
          <a:p>
            <a:br>
              <a:rPr lang="en-US" sz="1400" dirty="0"/>
            </a:br>
            <a:endPar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64375104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46D4E-7EB4-60B2-089F-F3590A8764C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92809BB-DACE-4744-AABB-50D9CEB79F58}"/>
              </a:ext>
            </a:extLst>
          </p:cNvPr>
          <p:cNvSpPr txBox="1"/>
          <p:nvPr/>
        </p:nvSpPr>
        <p:spPr>
          <a:xfrm>
            <a:off x="249277" y="1407536"/>
            <a:ext cx="3780516" cy="2800767"/>
          </a:xfrm>
          <a:prstGeom prst="rect">
            <a:avLst/>
          </a:prstGeom>
          <a:noFill/>
        </p:spPr>
        <p:txBody>
          <a:bodyPr wrap="square">
            <a:spAutoFit/>
          </a:bodyPr>
          <a:lstStyle/>
          <a:p>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Most used</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t>Nodes </a:t>
            </a: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dirty="0">
                <a:ln>
                  <a:noFill/>
                </a:ln>
                <a:solidFill>
                  <a:prstClr val="white"/>
                </a:solidFill>
                <a:effectLst/>
                <a:uLnTx/>
                <a:uFillTx/>
                <a:latin typeface="Times New Roman" panose="02020603050405020304"/>
                <a:ea typeface="+mj-ea"/>
                <a:cs typeface="+mj-cs"/>
              </a:rPr>
            </a:br>
            <a:endParaRPr lang="en-US" sz="4400" dirty="0"/>
          </a:p>
        </p:txBody>
      </p:sp>
      <p:pic>
        <p:nvPicPr>
          <p:cNvPr id="5" name="Picture 4">
            <a:extLst>
              <a:ext uri="{FF2B5EF4-FFF2-40B4-BE49-F238E27FC236}">
                <a16:creationId xmlns:a16="http://schemas.microsoft.com/office/drawing/2014/main" id="{18222E18-FE08-4FA5-86B6-E79768E3B838}"/>
              </a:ext>
            </a:extLst>
          </p:cNvPr>
          <p:cNvPicPr>
            <a:picLocks noChangeAspect="1"/>
          </p:cNvPicPr>
          <p:nvPr/>
        </p:nvPicPr>
        <p:blipFill>
          <a:blip r:embed="rId3"/>
          <a:stretch>
            <a:fillRect/>
          </a:stretch>
        </p:blipFill>
        <p:spPr>
          <a:xfrm>
            <a:off x="4572000" y="1139770"/>
            <a:ext cx="7109443" cy="3745641"/>
          </a:xfrm>
          <a:prstGeom prst="rect">
            <a:avLst/>
          </a:prstGeom>
        </p:spPr>
        <p:style>
          <a:lnRef idx="2">
            <a:schemeClr val="accent1">
              <a:shade val="15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val="177347892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887A9-230B-4ABE-293C-122B35D8DA5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7BEEC53-22E2-1A8A-E011-FD16EA4C5F92}"/>
              </a:ext>
            </a:extLst>
          </p:cNvPr>
          <p:cNvSpPr/>
          <p:nvPr/>
        </p:nvSpPr>
        <p:spPr>
          <a:xfrm>
            <a:off x="450476" y="2425699"/>
            <a:ext cx="2178424" cy="213957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3">
            <a:extLst>
              <a:ext uri="{FF2B5EF4-FFF2-40B4-BE49-F238E27FC236}">
                <a16:creationId xmlns:a16="http://schemas.microsoft.com/office/drawing/2014/main" id="{A5464DDC-734E-AEBC-921E-E9D1378BE4AC}"/>
              </a:ext>
            </a:extLst>
          </p:cNvPr>
          <p:cNvSpPr>
            <a:spLocks noGrp="1"/>
          </p:cNvSpPr>
          <p:nvPr>
            <p:ph type="title"/>
          </p:nvPr>
        </p:nvSpPr>
        <p:spPr>
          <a:xfrm>
            <a:off x="546100" y="552450"/>
            <a:ext cx="3300984" cy="1426604"/>
          </a:xfrm>
        </p:spPr>
        <p:txBody>
          <a:bodyPr/>
          <a:lstStyle/>
          <a:p>
            <a:r>
              <a:rPr lang="en-US" dirty="0"/>
              <a:t>Collaborate in Server</a:t>
            </a:r>
          </a:p>
        </p:txBody>
      </p:sp>
      <p:sp>
        <p:nvSpPr>
          <p:cNvPr id="3" name="TextBox 2">
            <a:extLst>
              <a:ext uri="{FF2B5EF4-FFF2-40B4-BE49-F238E27FC236}">
                <a16:creationId xmlns:a16="http://schemas.microsoft.com/office/drawing/2014/main" id="{22FF8C91-07CE-FC7B-27B8-19E3AB85DE82}"/>
              </a:ext>
            </a:extLst>
          </p:cNvPr>
          <p:cNvSpPr txBox="1"/>
          <p:nvPr/>
        </p:nvSpPr>
        <p:spPr>
          <a:xfrm>
            <a:off x="4263500" y="335213"/>
            <a:ext cx="7312982" cy="2339102"/>
          </a:xfrm>
          <a:prstGeom prst="rect">
            <a:avLst/>
          </a:prstGeom>
          <a:noFill/>
        </p:spPr>
        <p:txBody>
          <a:bodyPr wrap="square">
            <a:spAutoFit/>
          </a:bodyPr>
          <a:lstStyle/>
          <a:p>
            <a:pPr algn="l">
              <a:spcBef>
                <a:spcPts val="600"/>
              </a:spcBef>
              <a:spcAft>
                <a:spcPts val="300"/>
              </a:spcAft>
              <a:buNone/>
            </a:pPr>
            <a:r>
              <a:rPr lang="en-US" b="0" i="0" dirty="0">
                <a:effectLst/>
                <a:latin typeface="Segoe Sans"/>
              </a:rPr>
              <a:t>KNIME Server is the enterprise-grade extension of the KNIME Analytics Platform. It enables teams to:</a:t>
            </a:r>
          </a:p>
          <a:p>
            <a:pPr algn="l">
              <a:spcBef>
                <a:spcPts val="300"/>
              </a:spcBef>
              <a:spcAft>
                <a:spcPts val="300"/>
              </a:spcAft>
              <a:buFont typeface="Arial" panose="020B0604020202020204" pitchFamily="34" charset="0"/>
              <a:buChar char="•"/>
            </a:pPr>
            <a:r>
              <a:rPr lang="en-US" b="1" i="0" dirty="0">
                <a:effectLst/>
                <a:latin typeface="Segoe Sans"/>
              </a:rPr>
              <a:t>Automate</a:t>
            </a:r>
            <a:r>
              <a:rPr lang="en-US" b="0" i="0" dirty="0">
                <a:effectLst/>
                <a:latin typeface="Segoe Sans"/>
              </a:rPr>
              <a:t> workflows for repetitive tasks.</a:t>
            </a:r>
          </a:p>
          <a:p>
            <a:pPr algn="l">
              <a:spcBef>
                <a:spcPts val="300"/>
              </a:spcBef>
              <a:spcAft>
                <a:spcPts val="300"/>
              </a:spcAft>
              <a:buFont typeface="Arial" panose="020B0604020202020204" pitchFamily="34" charset="0"/>
              <a:buChar char="•"/>
            </a:pPr>
            <a:r>
              <a:rPr lang="en-US" b="1" i="0" dirty="0">
                <a:effectLst/>
                <a:latin typeface="Segoe Sans"/>
              </a:rPr>
              <a:t>Schedule</a:t>
            </a:r>
            <a:r>
              <a:rPr lang="en-US" b="0" i="0" dirty="0">
                <a:effectLst/>
                <a:latin typeface="Segoe Sans"/>
              </a:rPr>
              <a:t> jobs to run at specific times or intervals.</a:t>
            </a:r>
          </a:p>
          <a:p>
            <a:pPr algn="l">
              <a:spcBef>
                <a:spcPts val="300"/>
              </a:spcBef>
              <a:spcAft>
                <a:spcPts val="300"/>
              </a:spcAft>
              <a:buFont typeface="Arial" panose="020B0604020202020204" pitchFamily="34" charset="0"/>
              <a:buChar char="•"/>
            </a:pPr>
            <a:r>
              <a:rPr lang="en-US" b="1" i="0" dirty="0">
                <a:effectLst/>
                <a:latin typeface="Segoe Sans"/>
              </a:rPr>
              <a:t>Monitor</a:t>
            </a:r>
            <a:r>
              <a:rPr lang="en-US" b="0" i="0" dirty="0">
                <a:effectLst/>
                <a:latin typeface="Segoe Sans"/>
              </a:rPr>
              <a:t> workflow execution and performance.</a:t>
            </a:r>
          </a:p>
          <a:p>
            <a:pPr algn="l">
              <a:spcBef>
                <a:spcPts val="300"/>
              </a:spcBef>
              <a:spcAft>
                <a:spcPts val="300"/>
              </a:spcAft>
              <a:buFont typeface="Arial" panose="020B0604020202020204" pitchFamily="34" charset="0"/>
              <a:buChar char="•"/>
            </a:pPr>
            <a:r>
              <a:rPr lang="en-US" b="1" i="0" dirty="0">
                <a:effectLst/>
                <a:latin typeface="Segoe Sans"/>
              </a:rPr>
              <a:t>Collaborate</a:t>
            </a:r>
            <a:r>
              <a:rPr lang="en-US" b="0" i="0" dirty="0">
                <a:effectLst/>
                <a:latin typeface="Segoe Sans"/>
              </a:rPr>
              <a:t> across teams using shared repositories and version control.</a:t>
            </a:r>
          </a:p>
        </p:txBody>
      </p:sp>
      <p:pic>
        <p:nvPicPr>
          <p:cNvPr id="6" name="Picture 5">
            <a:extLst>
              <a:ext uri="{FF2B5EF4-FFF2-40B4-BE49-F238E27FC236}">
                <a16:creationId xmlns:a16="http://schemas.microsoft.com/office/drawing/2014/main" id="{C545F335-F19F-637E-A37B-0C07B480A6FE}"/>
              </a:ext>
            </a:extLst>
          </p:cNvPr>
          <p:cNvPicPr>
            <a:picLocks noChangeAspect="1"/>
          </p:cNvPicPr>
          <p:nvPr/>
        </p:nvPicPr>
        <p:blipFill>
          <a:blip r:embed="rId2"/>
          <a:stretch>
            <a:fillRect/>
          </a:stretch>
        </p:blipFill>
        <p:spPr>
          <a:xfrm>
            <a:off x="4431384" y="2689326"/>
            <a:ext cx="7464694" cy="3542798"/>
          </a:xfrm>
          <a:prstGeom prst="rect">
            <a:avLst/>
          </a:prstGeom>
        </p:spPr>
      </p:pic>
      <p:sp>
        <p:nvSpPr>
          <p:cNvPr id="4" name="TextBox 3">
            <a:extLst>
              <a:ext uri="{FF2B5EF4-FFF2-40B4-BE49-F238E27FC236}">
                <a16:creationId xmlns:a16="http://schemas.microsoft.com/office/drawing/2014/main" id="{4E78DA9C-57CB-B92B-0401-C95566D82FBA}"/>
              </a:ext>
            </a:extLst>
          </p:cNvPr>
          <p:cNvSpPr txBox="1"/>
          <p:nvPr/>
        </p:nvSpPr>
        <p:spPr>
          <a:xfrm>
            <a:off x="799644" y="2674314"/>
            <a:ext cx="1587209" cy="1200329"/>
          </a:xfrm>
          <a:prstGeom prst="rect">
            <a:avLst/>
          </a:prstGeom>
          <a:noFill/>
        </p:spPr>
        <p:txBody>
          <a:bodyPr wrap="square">
            <a:spAutoFit/>
          </a:bodyPr>
          <a:lstStyle/>
          <a:p>
            <a:r>
              <a:rPr lang="en-US" dirty="0">
                <a:hlinkClick r:id="rId3"/>
              </a:rPr>
              <a:t>Upload</a:t>
            </a:r>
            <a:endParaRPr lang="en-US" dirty="0">
              <a:hlinkClick r:id="rId4"/>
            </a:endParaRPr>
          </a:p>
          <a:p>
            <a:r>
              <a:rPr lang="en-US" dirty="0">
                <a:hlinkClick r:id="rId4"/>
              </a:rPr>
              <a:t>Ad hoc run</a:t>
            </a:r>
            <a:endParaRPr lang="en-US" dirty="0"/>
          </a:p>
          <a:p>
            <a:r>
              <a:rPr lang="en-US" dirty="0">
                <a:hlinkClick r:id="rId5"/>
              </a:rPr>
              <a:t>Schedule</a:t>
            </a:r>
            <a:endParaRPr lang="en-US" dirty="0"/>
          </a:p>
          <a:p>
            <a:r>
              <a:rPr lang="en-US" dirty="0">
                <a:hlinkClick r:id="rId6"/>
              </a:rPr>
              <a:t>Trigger</a:t>
            </a:r>
            <a:endParaRPr lang="en-US" dirty="0"/>
          </a:p>
        </p:txBody>
      </p:sp>
    </p:spTree>
    <p:extLst>
      <p:ext uri="{BB962C8B-B14F-4D97-AF65-F5344CB8AC3E}">
        <p14:creationId xmlns:p14="http://schemas.microsoft.com/office/powerpoint/2010/main" val="1344690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907C9-2164-8DBF-92E2-610C9B35D0A8}"/>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44ED6FC5-5A42-66CE-2ED3-8F22F799824C}"/>
              </a:ext>
            </a:extLst>
          </p:cNvPr>
          <p:cNvSpPr>
            <a:spLocks noGrp="1"/>
          </p:cNvSpPr>
          <p:nvPr>
            <p:ph type="title"/>
          </p:nvPr>
        </p:nvSpPr>
        <p:spPr>
          <a:xfrm>
            <a:off x="389965" y="552450"/>
            <a:ext cx="2810435" cy="1426604"/>
          </a:xfrm>
        </p:spPr>
        <p:txBody>
          <a:bodyPr/>
          <a:lstStyle/>
          <a:p>
            <a:r>
              <a:rPr lang="en-US" dirty="0"/>
              <a:t>Deploy</a:t>
            </a:r>
          </a:p>
        </p:txBody>
      </p:sp>
      <p:sp>
        <p:nvSpPr>
          <p:cNvPr id="27" name="Text Placeholder 8">
            <a:extLst>
              <a:ext uri="{FF2B5EF4-FFF2-40B4-BE49-F238E27FC236}">
                <a16:creationId xmlns:a16="http://schemas.microsoft.com/office/drawing/2014/main" id="{CC291C74-204B-AF8D-DBBD-5A92AFC7C5A0}"/>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pic>
        <p:nvPicPr>
          <p:cNvPr id="4" name="Picture 3">
            <a:extLst>
              <a:ext uri="{FF2B5EF4-FFF2-40B4-BE49-F238E27FC236}">
                <a16:creationId xmlns:a16="http://schemas.microsoft.com/office/drawing/2014/main" id="{473B357B-85C5-6503-E12A-D94DAE849305}"/>
              </a:ext>
            </a:extLst>
          </p:cNvPr>
          <p:cNvPicPr>
            <a:picLocks noChangeAspect="1"/>
          </p:cNvPicPr>
          <p:nvPr/>
        </p:nvPicPr>
        <p:blipFill>
          <a:blip r:embed="rId2"/>
          <a:stretch>
            <a:fillRect/>
          </a:stretch>
        </p:blipFill>
        <p:spPr>
          <a:xfrm>
            <a:off x="4238714" y="277796"/>
            <a:ext cx="7769451" cy="2995243"/>
          </a:xfrm>
          <a:prstGeom prst="rect">
            <a:avLst/>
          </a:prstGeom>
        </p:spPr>
      </p:pic>
      <p:pic>
        <p:nvPicPr>
          <p:cNvPr id="7" name="Picture 6">
            <a:extLst>
              <a:ext uri="{FF2B5EF4-FFF2-40B4-BE49-F238E27FC236}">
                <a16:creationId xmlns:a16="http://schemas.microsoft.com/office/drawing/2014/main" id="{D96C964F-0497-E579-42CD-6FC2BC50F44D}"/>
              </a:ext>
            </a:extLst>
          </p:cNvPr>
          <p:cNvPicPr>
            <a:picLocks noChangeAspect="1"/>
          </p:cNvPicPr>
          <p:nvPr/>
        </p:nvPicPr>
        <p:blipFill>
          <a:blip r:embed="rId3"/>
          <a:stretch>
            <a:fillRect/>
          </a:stretch>
        </p:blipFill>
        <p:spPr>
          <a:xfrm>
            <a:off x="4238713" y="3781723"/>
            <a:ext cx="7467553" cy="2867026"/>
          </a:xfrm>
          <a:prstGeom prst="rect">
            <a:avLst/>
          </a:prstGeom>
        </p:spPr>
      </p:pic>
      <p:sp>
        <p:nvSpPr>
          <p:cNvPr id="2" name="TextBox 1">
            <a:extLst>
              <a:ext uri="{FF2B5EF4-FFF2-40B4-BE49-F238E27FC236}">
                <a16:creationId xmlns:a16="http://schemas.microsoft.com/office/drawing/2014/main" id="{00E14932-6DCF-4B30-29ED-B1980CCBE921}"/>
              </a:ext>
            </a:extLst>
          </p:cNvPr>
          <p:cNvSpPr txBox="1"/>
          <p:nvPr/>
        </p:nvSpPr>
        <p:spPr>
          <a:xfrm>
            <a:off x="4238713" y="3429000"/>
            <a:ext cx="4313616" cy="255494"/>
          </a:xfrm>
          <a:prstGeom prst="rect">
            <a:avLst/>
          </a:prstGeom>
          <a:noFill/>
        </p:spPr>
        <p:txBody>
          <a:bodyPr wrap="square" lIns="0" tIns="0" rIns="0" bIns="0" rtlCol="0">
            <a:noAutofit/>
          </a:bodyPr>
          <a:lstStyle/>
          <a:p>
            <a:pPr algn="l">
              <a:lnSpc>
                <a:spcPct val="101000"/>
              </a:lnSpc>
              <a:spcAft>
                <a:spcPts val="600"/>
              </a:spcAft>
            </a:pPr>
            <a:r>
              <a:rPr kumimoji="0" lang="en-US" sz="1400" b="0" i="0" u="none" strike="noStrike" kern="1200" cap="none" spc="0" normalizeH="0" baseline="0" noProof="0" dirty="0">
                <a:ln>
                  <a:noFill/>
                </a:ln>
                <a:solidFill>
                  <a:srgbClr val="000000"/>
                </a:solidFill>
                <a:effectLst/>
                <a:uLnTx/>
                <a:uFillTx/>
                <a:ea typeface="GT America Regular" charset="0"/>
                <a:cs typeface="GT America Regular" charset="0"/>
              </a:rPr>
              <a:t>The workflow will be a draft until version is created</a:t>
            </a:r>
          </a:p>
        </p:txBody>
      </p:sp>
    </p:spTree>
    <p:extLst>
      <p:ext uri="{BB962C8B-B14F-4D97-AF65-F5344CB8AC3E}">
        <p14:creationId xmlns:p14="http://schemas.microsoft.com/office/powerpoint/2010/main" val="46883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B2328-0C5E-CCA6-69B9-E79FD06FDC2B}"/>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C2DBB1C1-D327-4529-2A76-372931943584}"/>
              </a:ext>
            </a:extLst>
          </p:cNvPr>
          <p:cNvSpPr>
            <a:spLocks noGrp="1"/>
          </p:cNvSpPr>
          <p:nvPr>
            <p:ph type="title"/>
          </p:nvPr>
        </p:nvSpPr>
        <p:spPr>
          <a:xfrm>
            <a:off x="262218" y="552450"/>
            <a:ext cx="3584866" cy="1426604"/>
          </a:xfrm>
        </p:spPr>
        <p:txBody>
          <a:bodyPr/>
          <a:lstStyle/>
          <a:p>
            <a:r>
              <a:rPr lang="en-US" dirty="0" err="1"/>
              <a:t>Opt</a:t>
            </a:r>
            <a:r>
              <a:rPr lang="en-US" dirty="0"/>
              <a:t> 1 – Ad hoc run</a:t>
            </a:r>
          </a:p>
        </p:txBody>
      </p:sp>
      <p:sp>
        <p:nvSpPr>
          <p:cNvPr id="27" name="Text Placeholder 8">
            <a:extLst>
              <a:ext uri="{FF2B5EF4-FFF2-40B4-BE49-F238E27FC236}">
                <a16:creationId xmlns:a16="http://schemas.microsoft.com/office/drawing/2014/main" id="{DC3EE13A-372F-E70D-9357-4C4CB4D67E16}"/>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sp>
        <p:nvSpPr>
          <p:cNvPr id="9" name="TextBox 8">
            <a:extLst>
              <a:ext uri="{FF2B5EF4-FFF2-40B4-BE49-F238E27FC236}">
                <a16:creationId xmlns:a16="http://schemas.microsoft.com/office/drawing/2014/main" id="{E830C9C4-4263-D65E-7E5D-689DC66072A3}"/>
              </a:ext>
            </a:extLst>
          </p:cNvPr>
          <p:cNvSpPr txBox="1"/>
          <p:nvPr/>
        </p:nvSpPr>
        <p:spPr>
          <a:xfrm>
            <a:off x="645459" y="3012141"/>
            <a:ext cx="2622176" cy="1405218"/>
          </a:xfrm>
          <a:prstGeom prst="rect">
            <a:avLst/>
          </a:prstGeom>
          <a:noFill/>
        </p:spPr>
        <p:txBody>
          <a:bodyPr wrap="square" lIns="0" tIns="0" rIns="0" bIns="0" rtlCol="0">
            <a:noAutofit/>
          </a:bodyPr>
          <a:lstStyle/>
          <a:p>
            <a:pPr algn="l">
              <a:lnSpc>
                <a:spcPct val="101000"/>
              </a:lnSpc>
              <a:spcAft>
                <a:spcPts val="600"/>
              </a:spcAft>
            </a:pPr>
            <a:endParaRPr kumimoji="0" lang="en-US" sz="2000" b="0" i="0" u="none" strike="noStrike" kern="1200" cap="none" spc="0" normalizeH="0" baseline="0" noProof="0" dirty="0">
              <a:ln>
                <a:noFill/>
              </a:ln>
              <a:solidFill>
                <a:schemeClr val="bg1"/>
              </a:solidFill>
              <a:effectLst/>
              <a:uLnTx/>
              <a:uFillTx/>
              <a:ea typeface="GT America Regular" charset="0"/>
              <a:cs typeface="GT America Regular" charset="0"/>
            </a:endParaRPr>
          </a:p>
        </p:txBody>
      </p:sp>
      <p:pic>
        <p:nvPicPr>
          <p:cNvPr id="11" name="Picture 10">
            <a:extLst>
              <a:ext uri="{FF2B5EF4-FFF2-40B4-BE49-F238E27FC236}">
                <a16:creationId xmlns:a16="http://schemas.microsoft.com/office/drawing/2014/main" id="{F3AA72A2-4DE6-0CA8-7651-8A4A68FA0102}"/>
              </a:ext>
            </a:extLst>
          </p:cNvPr>
          <p:cNvPicPr>
            <a:picLocks noChangeAspect="1"/>
          </p:cNvPicPr>
          <p:nvPr/>
        </p:nvPicPr>
        <p:blipFill>
          <a:blip r:embed="rId2"/>
          <a:stretch>
            <a:fillRect/>
          </a:stretch>
        </p:blipFill>
        <p:spPr>
          <a:xfrm>
            <a:off x="4309781" y="347640"/>
            <a:ext cx="7678272" cy="6162720"/>
          </a:xfrm>
          <a:prstGeom prst="rect">
            <a:avLst/>
          </a:prstGeom>
        </p:spPr>
      </p:pic>
    </p:spTree>
    <p:extLst>
      <p:ext uri="{BB962C8B-B14F-4D97-AF65-F5344CB8AC3E}">
        <p14:creationId xmlns:p14="http://schemas.microsoft.com/office/powerpoint/2010/main" val="3194058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7386D-04AC-0A3C-856A-FE97BEF378F7}"/>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944447F8-7E11-0EE1-A1F2-458B6A6C1037}"/>
              </a:ext>
            </a:extLst>
          </p:cNvPr>
          <p:cNvSpPr>
            <a:spLocks noGrp="1"/>
          </p:cNvSpPr>
          <p:nvPr>
            <p:ph type="title"/>
          </p:nvPr>
        </p:nvSpPr>
        <p:spPr>
          <a:xfrm>
            <a:off x="262218" y="552450"/>
            <a:ext cx="3584866" cy="1426604"/>
          </a:xfrm>
        </p:spPr>
        <p:txBody>
          <a:bodyPr/>
          <a:lstStyle/>
          <a:p>
            <a:r>
              <a:rPr lang="en-US" dirty="0" err="1"/>
              <a:t>Opt</a:t>
            </a:r>
            <a:r>
              <a:rPr lang="en-US" dirty="0"/>
              <a:t> 2 - Schedule</a:t>
            </a:r>
          </a:p>
        </p:txBody>
      </p:sp>
      <p:sp>
        <p:nvSpPr>
          <p:cNvPr id="27" name="Text Placeholder 8">
            <a:extLst>
              <a:ext uri="{FF2B5EF4-FFF2-40B4-BE49-F238E27FC236}">
                <a16:creationId xmlns:a16="http://schemas.microsoft.com/office/drawing/2014/main" id="{94E9D757-3179-6CAC-22B6-2C901AF74DE1}"/>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pic>
        <p:nvPicPr>
          <p:cNvPr id="5" name="Picture 4">
            <a:extLst>
              <a:ext uri="{FF2B5EF4-FFF2-40B4-BE49-F238E27FC236}">
                <a16:creationId xmlns:a16="http://schemas.microsoft.com/office/drawing/2014/main" id="{9E88F3EA-9F2C-D05E-7952-6CDA944822E0}"/>
              </a:ext>
            </a:extLst>
          </p:cNvPr>
          <p:cNvPicPr>
            <a:picLocks noChangeAspect="1"/>
          </p:cNvPicPr>
          <p:nvPr/>
        </p:nvPicPr>
        <p:blipFill>
          <a:blip r:embed="rId2"/>
          <a:stretch>
            <a:fillRect/>
          </a:stretch>
        </p:blipFill>
        <p:spPr>
          <a:xfrm>
            <a:off x="4285778" y="3315523"/>
            <a:ext cx="7796405" cy="3132342"/>
          </a:xfrm>
          <a:prstGeom prst="rect">
            <a:avLst/>
          </a:prstGeom>
        </p:spPr>
      </p:pic>
      <p:pic>
        <p:nvPicPr>
          <p:cNvPr id="8" name="Picture 7">
            <a:extLst>
              <a:ext uri="{FF2B5EF4-FFF2-40B4-BE49-F238E27FC236}">
                <a16:creationId xmlns:a16="http://schemas.microsoft.com/office/drawing/2014/main" id="{859370A1-D142-A1A0-8D45-9BBB7494BE88}"/>
              </a:ext>
            </a:extLst>
          </p:cNvPr>
          <p:cNvPicPr>
            <a:picLocks noChangeAspect="1"/>
          </p:cNvPicPr>
          <p:nvPr/>
        </p:nvPicPr>
        <p:blipFill>
          <a:blip r:embed="rId3"/>
          <a:stretch>
            <a:fillRect/>
          </a:stretch>
        </p:blipFill>
        <p:spPr>
          <a:xfrm>
            <a:off x="4246882" y="147916"/>
            <a:ext cx="7796405" cy="2711565"/>
          </a:xfrm>
          <a:prstGeom prst="rect">
            <a:avLst/>
          </a:prstGeom>
        </p:spPr>
      </p:pic>
      <p:sp>
        <p:nvSpPr>
          <p:cNvPr id="9" name="TextBox 8">
            <a:extLst>
              <a:ext uri="{FF2B5EF4-FFF2-40B4-BE49-F238E27FC236}">
                <a16:creationId xmlns:a16="http://schemas.microsoft.com/office/drawing/2014/main" id="{30A9303A-7DD8-5DDB-6B87-3D8530AD0184}"/>
              </a:ext>
            </a:extLst>
          </p:cNvPr>
          <p:cNvSpPr txBox="1"/>
          <p:nvPr/>
        </p:nvSpPr>
        <p:spPr>
          <a:xfrm>
            <a:off x="645459" y="3012141"/>
            <a:ext cx="2622176" cy="1405218"/>
          </a:xfrm>
          <a:prstGeom prst="rect">
            <a:avLst/>
          </a:prstGeom>
          <a:noFill/>
        </p:spPr>
        <p:txBody>
          <a:bodyPr wrap="square" lIns="0" tIns="0" rIns="0" bIns="0" rtlCol="0">
            <a:noAutofit/>
          </a:bodyPr>
          <a:lstStyle/>
          <a:p>
            <a:pPr algn="l">
              <a:lnSpc>
                <a:spcPct val="101000"/>
              </a:lnSpc>
              <a:spcAft>
                <a:spcPts val="600"/>
              </a:spcAft>
            </a:pPr>
            <a:endParaRPr kumimoji="0" lang="en-US" sz="2000" b="0" i="0" u="none" strike="noStrike" kern="1200" cap="none" spc="0" normalizeH="0" baseline="0" noProof="0" dirty="0">
              <a:ln>
                <a:noFill/>
              </a:ln>
              <a:solidFill>
                <a:schemeClr val="bg1"/>
              </a:solidFill>
              <a:effectLst/>
              <a:uLnTx/>
              <a:uFillTx/>
              <a:ea typeface="GT America Regular" charset="0"/>
              <a:cs typeface="GT America Regular" charset="0"/>
            </a:endParaRPr>
          </a:p>
        </p:txBody>
      </p:sp>
    </p:spTree>
    <p:extLst>
      <p:ext uri="{BB962C8B-B14F-4D97-AF65-F5344CB8AC3E}">
        <p14:creationId xmlns:p14="http://schemas.microsoft.com/office/powerpoint/2010/main" val="380297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5DC8B-EC20-82FC-CD5E-6F20E4DAFA08}"/>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F37B9293-971B-EDC1-1619-30952973965D}"/>
              </a:ext>
            </a:extLst>
          </p:cNvPr>
          <p:cNvSpPr>
            <a:spLocks noGrp="1"/>
          </p:cNvSpPr>
          <p:nvPr>
            <p:ph type="title"/>
          </p:nvPr>
        </p:nvSpPr>
        <p:spPr>
          <a:xfrm>
            <a:off x="262218" y="552450"/>
            <a:ext cx="3584866" cy="1426604"/>
          </a:xfrm>
        </p:spPr>
        <p:txBody>
          <a:bodyPr/>
          <a:lstStyle/>
          <a:p>
            <a:r>
              <a:rPr lang="en-US" dirty="0" err="1"/>
              <a:t>Opt</a:t>
            </a:r>
            <a:r>
              <a:rPr lang="en-US" dirty="0"/>
              <a:t> 3 – Trigger</a:t>
            </a:r>
          </a:p>
        </p:txBody>
      </p:sp>
      <p:sp>
        <p:nvSpPr>
          <p:cNvPr id="27" name="Text Placeholder 8">
            <a:extLst>
              <a:ext uri="{FF2B5EF4-FFF2-40B4-BE49-F238E27FC236}">
                <a16:creationId xmlns:a16="http://schemas.microsoft.com/office/drawing/2014/main" id="{79168DDE-472B-C2C9-3AB3-BC267BE41DBE}"/>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sp>
        <p:nvSpPr>
          <p:cNvPr id="9" name="TextBox 8">
            <a:extLst>
              <a:ext uri="{FF2B5EF4-FFF2-40B4-BE49-F238E27FC236}">
                <a16:creationId xmlns:a16="http://schemas.microsoft.com/office/drawing/2014/main" id="{BAE3F26E-0AC1-9CE2-B86B-399D3E097B2F}"/>
              </a:ext>
            </a:extLst>
          </p:cNvPr>
          <p:cNvSpPr txBox="1"/>
          <p:nvPr/>
        </p:nvSpPr>
        <p:spPr>
          <a:xfrm>
            <a:off x="645459" y="3012141"/>
            <a:ext cx="2622176" cy="1405218"/>
          </a:xfrm>
          <a:prstGeom prst="rect">
            <a:avLst/>
          </a:prstGeom>
          <a:noFill/>
        </p:spPr>
        <p:txBody>
          <a:bodyPr wrap="square" lIns="0" tIns="0" rIns="0" bIns="0" rtlCol="0">
            <a:noAutofit/>
          </a:bodyPr>
          <a:lstStyle/>
          <a:p>
            <a:pPr algn="l">
              <a:lnSpc>
                <a:spcPct val="101000"/>
              </a:lnSpc>
              <a:spcAft>
                <a:spcPts val="600"/>
              </a:spcAft>
            </a:pPr>
            <a:endParaRPr kumimoji="0" lang="en-US" sz="2000" b="0" i="0" u="none" strike="noStrike" kern="1200" cap="none" spc="0" normalizeH="0" baseline="0" noProof="0" dirty="0">
              <a:ln>
                <a:noFill/>
              </a:ln>
              <a:solidFill>
                <a:schemeClr val="bg1"/>
              </a:solidFill>
              <a:effectLst/>
              <a:uLnTx/>
              <a:uFillTx/>
              <a:ea typeface="GT America Regular" charset="0"/>
              <a:cs typeface="GT America Regular" charset="0"/>
            </a:endParaRPr>
          </a:p>
        </p:txBody>
      </p:sp>
      <p:pic>
        <p:nvPicPr>
          <p:cNvPr id="3" name="Picture 2">
            <a:extLst>
              <a:ext uri="{FF2B5EF4-FFF2-40B4-BE49-F238E27FC236}">
                <a16:creationId xmlns:a16="http://schemas.microsoft.com/office/drawing/2014/main" id="{BD880F0B-3452-85AB-9B3E-7CF50E88070C}"/>
              </a:ext>
            </a:extLst>
          </p:cNvPr>
          <p:cNvPicPr>
            <a:picLocks noChangeAspect="1"/>
          </p:cNvPicPr>
          <p:nvPr/>
        </p:nvPicPr>
        <p:blipFill>
          <a:blip r:embed="rId2"/>
          <a:stretch>
            <a:fillRect/>
          </a:stretch>
        </p:blipFill>
        <p:spPr>
          <a:xfrm>
            <a:off x="4235789" y="165829"/>
            <a:ext cx="7693994" cy="3057547"/>
          </a:xfrm>
          <a:prstGeom prst="rect">
            <a:avLst/>
          </a:prstGeom>
        </p:spPr>
      </p:pic>
      <p:pic>
        <p:nvPicPr>
          <p:cNvPr id="5" name="Picture 4">
            <a:extLst>
              <a:ext uri="{FF2B5EF4-FFF2-40B4-BE49-F238E27FC236}">
                <a16:creationId xmlns:a16="http://schemas.microsoft.com/office/drawing/2014/main" id="{4CB65E44-CE9B-F619-BCC0-548E7975063F}"/>
              </a:ext>
            </a:extLst>
          </p:cNvPr>
          <p:cNvPicPr>
            <a:picLocks noChangeAspect="1"/>
          </p:cNvPicPr>
          <p:nvPr/>
        </p:nvPicPr>
        <p:blipFill>
          <a:blip r:embed="rId3"/>
          <a:stretch>
            <a:fillRect/>
          </a:stretch>
        </p:blipFill>
        <p:spPr>
          <a:xfrm>
            <a:off x="4235789" y="3429000"/>
            <a:ext cx="7693994" cy="3263171"/>
          </a:xfrm>
          <a:prstGeom prst="rect">
            <a:avLst/>
          </a:prstGeom>
        </p:spPr>
      </p:pic>
    </p:spTree>
    <p:extLst>
      <p:ext uri="{BB962C8B-B14F-4D97-AF65-F5344CB8AC3E}">
        <p14:creationId xmlns:p14="http://schemas.microsoft.com/office/powerpoint/2010/main" val="2138606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6D4B-B28D-98BF-CBA5-DF50CB57C95A}"/>
              </a:ext>
            </a:extLst>
          </p:cNvPr>
          <p:cNvSpPr>
            <a:spLocks noGrp="1"/>
          </p:cNvSpPr>
          <p:nvPr>
            <p:ph type="title"/>
          </p:nvPr>
        </p:nvSpPr>
        <p:spPr>
          <a:xfrm>
            <a:off x="539751" y="4567237"/>
            <a:ext cx="5441950" cy="1165225"/>
          </a:xfrm>
        </p:spPr>
        <p:txBody>
          <a:bodyPr/>
          <a:lstStyle/>
          <a:p>
            <a:r>
              <a:rPr lang="en-US"/>
              <a:t>Q&amp;A</a:t>
            </a:r>
            <a:br>
              <a:rPr lang="en-US"/>
            </a:br>
            <a:br>
              <a:rPr lang="en-US"/>
            </a:br>
            <a:r>
              <a:rPr lang="en-US"/>
              <a:t>Thank you</a:t>
            </a:r>
            <a:endParaRPr lang="en-CR"/>
          </a:p>
        </p:txBody>
      </p:sp>
    </p:spTree>
    <p:extLst>
      <p:ext uri="{BB962C8B-B14F-4D97-AF65-F5344CB8AC3E}">
        <p14:creationId xmlns:p14="http://schemas.microsoft.com/office/powerpoint/2010/main" val="2021282658"/>
      </p:ext>
    </p:extLst>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2.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726</Words>
  <Application>Microsoft Office PowerPoint</Application>
  <PresentationFormat>Widescreen</PresentationFormat>
  <Paragraphs>89</Paragraphs>
  <Slides>12</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GT America</vt:lpstr>
      <vt:lpstr>Segoe Sans</vt:lpstr>
      <vt:lpstr>Aptos</vt:lpstr>
      <vt:lpstr>Arial</vt:lpstr>
      <vt:lpstr>GT America Regular</vt:lpstr>
      <vt:lpstr>Times New Roman</vt:lpstr>
      <vt:lpstr>Moody's</vt:lpstr>
      <vt:lpstr>Moody's</vt:lpstr>
      <vt:lpstr>PowerPoint Presentation</vt:lpstr>
      <vt:lpstr>Session  Outline</vt:lpstr>
      <vt:lpstr>PowerPoint Presentation</vt:lpstr>
      <vt:lpstr>PowerPoint Presentation</vt:lpstr>
      <vt:lpstr>PowerPoint Presentation</vt:lpstr>
      <vt:lpstr>PowerPoint Presentation</vt:lpstr>
      <vt:lpstr>Collaborate in Server</vt:lpstr>
      <vt:lpstr>Deploy</vt:lpstr>
      <vt:lpstr>Opt 1 – Ad hoc run</vt:lpstr>
      <vt:lpstr>Opt 2 - Schedule</vt:lpstr>
      <vt:lpstr>Opt 3 – Trigger</vt:lpstr>
      <vt:lpstr>Q&amp;A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Vartika Goel (Ratings - Tech)</dc:creator>
  <cp:lastModifiedBy>Suchithra . (Ratings - Tech)</cp:lastModifiedBy>
  <cp:revision>8</cp:revision>
  <dcterms:created xsi:type="dcterms:W3CDTF">2025-05-12T07:46:41Z</dcterms:created>
  <dcterms:modified xsi:type="dcterms:W3CDTF">2025-09-11T14:25:01Z</dcterms:modified>
</cp:coreProperties>
</file>